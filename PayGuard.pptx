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4"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30AC73-145F-4CFC-90F6-8C0CF6916BBD}" v="852" dt="2026-09-16T14:42:24.6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p:scale>
          <a:sx n="117" d="100"/>
          <a:sy n="117" d="100"/>
        </p:scale>
        <p:origin x="-108"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hyperlink" Target="https://www.ijraset.com/research-paper/idempotency-and-reconciliation-in-payment-software?utm_source=chatgpt.com" TargetMode="External"/><Relationship Id="rId3" Type="http://schemas.openxmlformats.org/officeDocument/2006/relationships/hyperlink" Target="https://www.microsoft.com/en-us/research/wp-content/uploads/2016/02/popl38-ramalingam.pdf" TargetMode="External"/><Relationship Id="rId7" Type="http://schemas.openxmlformats.org/officeDocument/2006/relationships/hyperlink" Target="https://www.ijraset.com/research-paper/idempotency-and-reconciliation-in-payment-software"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iris.uniroma1.it/handle/11573/361981?utm_source=chatgpt.com" TargetMode="External"/><Relationship Id="rId11" Type="http://schemas.openxmlformats.org/officeDocument/2006/relationships/image" Target="../media/image2.png"/><Relationship Id="rId5" Type="http://schemas.openxmlformats.org/officeDocument/2006/relationships/hyperlink" Target="https://www.researchgate.net/publication/3301156_Ensuring_e-Transaction_with_Asynchronous_and_Uncoordinated_Application_Server_Replicas" TargetMode="External"/><Relationship Id="rId10" Type="http://schemas.openxmlformats.org/officeDocument/2006/relationships/hyperlink" Target="https://eudoxuspress.com/index.php/pub/article/view/4081?utm_source=chatgpt.com" TargetMode="External"/><Relationship Id="rId4" Type="http://schemas.openxmlformats.org/officeDocument/2006/relationships/hyperlink" Target="https://www.microsoft.com/en-us/research/publication/fault-tolerance-via-idempotence/?utm_source=chatgpt.com" TargetMode="External"/><Relationship Id="rId9" Type="http://schemas.openxmlformats.org/officeDocument/2006/relationships/hyperlink" Target="https://eudoxuspress.com/index.php/pub/article/view/4081"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A0F3CDC-5761-FD46-D34B-FC8A89B5D64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xmlns="" id="{41795B3D-11F6-629B-7921-2A4277CE0F28}"/>
              </a:ext>
            </a:extLst>
          </p:cNvPr>
          <p:cNvPicPr>
            <a:picLocks noChangeAspect="1"/>
          </p:cNvPicPr>
          <p:nvPr/>
        </p:nvPicPr>
        <p:blipFill>
          <a:blip r:embed="rId2"/>
          <a:stretch>
            <a:fillRect/>
          </a:stretch>
        </p:blipFill>
        <p:spPr>
          <a:xfrm>
            <a:off x="244226" y="335724"/>
            <a:ext cx="1857492" cy="1231383"/>
          </a:xfrm>
          <a:prstGeom prst="rect">
            <a:avLst/>
          </a:prstGeom>
        </p:spPr>
      </p:pic>
      <p:sp>
        <p:nvSpPr>
          <p:cNvPr id="11" name="TextBox 10">
            <a:extLst>
              <a:ext uri="{FF2B5EF4-FFF2-40B4-BE49-F238E27FC236}">
                <a16:creationId xmlns:a16="http://schemas.microsoft.com/office/drawing/2014/main" xmlns="" id="{21C74CC4-FFAF-3941-AB50-0DC1CEFA55BA}"/>
              </a:ext>
            </a:extLst>
          </p:cNvPr>
          <p:cNvSpPr txBox="1"/>
          <p:nvPr/>
        </p:nvSpPr>
        <p:spPr>
          <a:xfrm>
            <a:off x="2940191" y="462030"/>
            <a:ext cx="6412419" cy="10080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xmlns="" id="{A10EA920-64BE-DFB8-74D7-1C66FAB9E589}"/>
              </a:ext>
            </a:extLst>
          </p:cNvPr>
          <p:cNvSpPr txBox="1"/>
          <p:nvPr/>
        </p:nvSpPr>
        <p:spPr>
          <a:xfrm>
            <a:off x="2884188" y="434028"/>
            <a:ext cx="665043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latin typeface="Times New Roman"/>
                <a:cs typeface="Times New Roman"/>
              </a:rPr>
              <a:t> </a:t>
            </a:r>
          </a:p>
        </p:txBody>
      </p:sp>
      <p:sp>
        <p:nvSpPr>
          <p:cNvPr id="2" name="TextBox 1">
            <a:extLst>
              <a:ext uri="{FF2B5EF4-FFF2-40B4-BE49-F238E27FC236}">
                <a16:creationId xmlns:a16="http://schemas.microsoft.com/office/drawing/2014/main" xmlns="" id="{960AA69C-B404-46B5-4B80-545D0BF67F36}"/>
              </a:ext>
            </a:extLst>
          </p:cNvPr>
          <p:cNvSpPr txBox="1"/>
          <p:nvPr/>
        </p:nvSpPr>
        <p:spPr>
          <a:xfrm>
            <a:off x="3346218" y="630040"/>
            <a:ext cx="592238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latin typeface="Times New Roman"/>
                <a:cs typeface="Times New Roman"/>
              </a:rPr>
              <a:t>PROBLEM STATEMENT</a:t>
            </a:r>
            <a:endParaRPr lang="en-US"/>
          </a:p>
        </p:txBody>
      </p:sp>
      <p:sp>
        <p:nvSpPr>
          <p:cNvPr id="3" name="TextBox 2">
            <a:extLst>
              <a:ext uri="{FF2B5EF4-FFF2-40B4-BE49-F238E27FC236}">
                <a16:creationId xmlns:a16="http://schemas.microsoft.com/office/drawing/2014/main" xmlns="" id="{7CE712D0-D0C9-7006-E516-B54306F13315}"/>
              </a:ext>
            </a:extLst>
          </p:cNvPr>
          <p:cNvSpPr txBox="1"/>
          <p:nvPr/>
        </p:nvSpPr>
        <p:spPr>
          <a:xfrm>
            <a:off x="658042" y="1876122"/>
            <a:ext cx="1124273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Times New Roman"/>
                <a:cs typeface="Times New Roman"/>
              </a:rPr>
              <a:t>Current Challenge </a:t>
            </a:r>
            <a:endParaRPr lang="en-US" dirty="0">
              <a:latin typeface="Times New Roman"/>
              <a:ea typeface="+mn-lt"/>
              <a:cs typeface="Times New Roman"/>
            </a:endParaRPr>
          </a:p>
          <a:p>
            <a:pPr marL="285750" indent="-285750">
              <a:buFont typeface="Arial"/>
              <a:buChar char="•"/>
            </a:pPr>
            <a:r>
              <a:rPr lang="en-US" b="1" dirty="0">
                <a:latin typeface="Times New Roman"/>
                <a:ea typeface="+mn-lt"/>
                <a:cs typeface="Times New Roman"/>
              </a:rPr>
              <a:t>Duplicate Payments</a:t>
            </a:r>
            <a:r>
              <a:rPr lang="en-US" dirty="0">
                <a:latin typeface="Times New Roman"/>
                <a:ea typeface="+mn-lt"/>
                <a:cs typeface="Times New Roman"/>
              </a:rPr>
              <a:t> – The same payment may be processed twice because of repeated clicks or network problems. </a:t>
            </a:r>
            <a:endParaRPr lang="en-US">
              <a:latin typeface="Times New Roman"/>
              <a:cs typeface="Times New Roman"/>
            </a:endParaRPr>
          </a:p>
          <a:p>
            <a:pPr marL="285750" indent="-285750">
              <a:buFont typeface="Arial"/>
              <a:buChar char="•"/>
            </a:pPr>
            <a:r>
              <a:rPr lang="en-US" b="1" dirty="0">
                <a:latin typeface="Times New Roman"/>
                <a:ea typeface="+mn-lt"/>
                <a:cs typeface="Times New Roman"/>
              </a:rPr>
              <a:t>Wrong Balance</a:t>
            </a:r>
            <a:r>
              <a:rPr lang="en-US" dirty="0">
                <a:latin typeface="Times New Roman"/>
                <a:ea typeface="+mn-lt"/>
                <a:cs typeface="Times New Roman"/>
              </a:rPr>
              <a:t> – Multiple transactions at the same time can cause incorrect account balances. </a:t>
            </a:r>
            <a:endParaRPr lang="en-US" dirty="0">
              <a:latin typeface="Times New Roman"/>
              <a:cs typeface="Times New Roman"/>
            </a:endParaRPr>
          </a:p>
          <a:p>
            <a:pPr marL="285750" indent="-285750">
              <a:buFont typeface="Arial"/>
              <a:buChar char="•"/>
            </a:pPr>
            <a:r>
              <a:rPr lang="en-US" b="1" dirty="0">
                <a:latin typeface="Times New Roman"/>
                <a:ea typeface="+mn-lt"/>
                <a:cs typeface="Times New Roman"/>
              </a:rPr>
              <a:t>System Failures</a:t>
            </a:r>
            <a:r>
              <a:rPr lang="en-US" dirty="0">
                <a:latin typeface="Times New Roman"/>
                <a:ea typeface="+mn-lt"/>
                <a:cs typeface="Times New Roman"/>
              </a:rPr>
              <a:t> – Network or server failures can make it difficult to know whether a payment was successful or failed.</a:t>
            </a:r>
            <a:endParaRPr lang="en-US" dirty="0">
              <a:latin typeface="Times New Roman"/>
              <a:cs typeface="Times New Roman"/>
            </a:endParaRPr>
          </a:p>
        </p:txBody>
      </p:sp>
      <p:sp>
        <p:nvSpPr>
          <p:cNvPr id="4" name="TextBox 3">
            <a:extLst>
              <a:ext uri="{FF2B5EF4-FFF2-40B4-BE49-F238E27FC236}">
                <a16:creationId xmlns:a16="http://schemas.microsoft.com/office/drawing/2014/main" xmlns="" id="{2E472A53-1A95-B9E9-B28E-0505BE6263A4}"/>
              </a:ext>
            </a:extLst>
          </p:cNvPr>
          <p:cNvSpPr txBox="1"/>
          <p:nvPr/>
        </p:nvSpPr>
        <p:spPr>
          <a:xfrm>
            <a:off x="661356" y="3424595"/>
            <a:ext cx="1125367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Times New Roman"/>
                <a:cs typeface="Times New Roman"/>
              </a:rPr>
              <a:t>Research Gap</a:t>
            </a:r>
          </a:p>
          <a:p>
            <a:pPr marL="285750" indent="-285750">
              <a:buFont typeface="Arial"/>
              <a:buChar char="•"/>
            </a:pPr>
            <a:r>
              <a:rPr lang="en-US" b="1" dirty="0">
                <a:latin typeface="Times New Roman"/>
                <a:ea typeface="+mn-lt"/>
                <a:cs typeface="Times New Roman"/>
              </a:rPr>
              <a:t>Existing payment systems handle duplicate payments and concurrent transactions separately</a:t>
            </a:r>
            <a:r>
              <a:rPr lang="en-US" dirty="0">
                <a:latin typeface="Times New Roman"/>
                <a:ea typeface="+mn-lt"/>
                <a:cs typeface="Times New Roman"/>
              </a:rPr>
              <a:t>, but maintaining both together during failures is still challenging. </a:t>
            </a:r>
            <a:endParaRPr lang="en-US" dirty="0">
              <a:latin typeface="Times New Roman"/>
              <a:cs typeface="Times New Roman"/>
            </a:endParaRPr>
          </a:p>
          <a:p>
            <a:pPr marL="285750" indent="-285750">
              <a:buFont typeface="Arial"/>
              <a:buChar char="•"/>
            </a:pPr>
            <a:r>
              <a:rPr lang="en-US" b="1" dirty="0">
                <a:latin typeface="Times New Roman"/>
                <a:ea typeface="+mn-lt"/>
                <a:cs typeface="Times New Roman"/>
              </a:rPr>
              <a:t>A more reliable and scalable solution is needed</a:t>
            </a:r>
            <a:r>
              <a:rPr lang="en-US" dirty="0">
                <a:latin typeface="Times New Roman"/>
                <a:ea typeface="+mn-lt"/>
                <a:cs typeface="Times New Roman"/>
              </a:rPr>
              <a:t> to prevent duplicate payments and maintain correct balances during high traffic, retries, and system failures. </a:t>
            </a:r>
            <a:endParaRPr lang="en-US" dirty="0">
              <a:latin typeface="Times New Roman"/>
              <a:cs typeface="Times New Roman"/>
            </a:endParaRPr>
          </a:p>
        </p:txBody>
      </p:sp>
      <p:sp>
        <p:nvSpPr>
          <p:cNvPr id="6" name="TextBox 5">
            <a:extLst>
              <a:ext uri="{FF2B5EF4-FFF2-40B4-BE49-F238E27FC236}">
                <a16:creationId xmlns:a16="http://schemas.microsoft.com/office/drawing/2014/main" xmlns="" id="{8607E9D0-FD5F-F4A5-F44F-C538536DADB6}"/>
              </a:ext>
            </a:extLst>
          </p:cNvPr>
          <p:cNvSpPr txBox="1"/>
          <p:nvPr/>
        </p:nvSpPr>
        <p:spPr>
          <a:xfrm>
            <a:off x="683231" y="4915568"/>
            <a:ext cx="11035534"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Times New Roman"/>
                <a:cs typeface="Times New Roman"/>
              </a:rPr>
              <a:t>Proposed Approach</a:t>
            </a:r>
          </a:p>
          <a:p>
            <a:pPr marL="285750" indent="-285750">
              <a:buFont typeface="Arial"/>
              <a:buChar char="•"/>
            </a:pPr>
            <a:r>
              <a:rPr lang="en-US" b="1" dirty="0">
                <a:latin typeface="Times New Roman"/>
                <a:ea typeface="+mn-lt"/>
                <a:cs typeface="Times New Roman"/>
              </a:rPr>
              <a:t>Use Idempotency Keys and Redis</a:t>
            </a:r>
            <a:r>
              <a:rPr lang="en-US" dirty="0">
                <a:latin typeface="Times New Roman"/>
                <a:ea typeface="+mn-lt"/>
                <a:cs typeface="Times New Roman"/>
              </a:rPr>
              <a:t> – Assign a unique key to each payment request so repeated requests are identified and the same payment is not processed twice.</a:t>
            </a:r>
            <a:endParaRPr lang="en-US">
              <a:latin typeface="Times New Roman"/>
              <a:cs typeface="Times New Roman"/>
            </a:endParaRPr>
          </a:p>
          <a:p>
            <a:pPr marL="285750" indent="-285750">
              <a:buFont typeface="Arial"/>
              <a:buChar char="•"/>
            </a:pPr>
            <a:r>
              <a:rPr lang="en-US" b="1" dirty="0">
                <a:latin typeface="Times New Roman"/>
                <a:ea typeface="+mn-lt"/>
                <a:cs typeface="Times New Roman"/>
              </a:rPr>
              <a:t>Use Database Locking</a:t>
            </a:r>
            <a:r>
              <a:rPr lang="en-US" dirty="0">
                <a:latin typeface="Times New Roman"/>
                <a:ea typeface="+mn-lt"/>
                <a:cs typeface="Times New Roman"/>
              </a:rPr>
              <a:t> – Lock the account record while processing transactions so that simultaneous payments cannot cause an incorrect balance.</a:t>
            </a:r>
            <a:endParaRPr lang="en-US">
              <a:latin typeface="Times New Roman"/>
              <a:cs typeface="Times New Roman"/>
            </a:endParaRPr>
          </a:p>
          <a:p>
            <a:pPr algn="l"/>
            <a:endParaRPr lang="en-US" dirty="0">
              <a:latin typeface="Times New Roman"/>
              <a:cs typeface="Times New Roman"/>
            </a:endParaRPr>
          </a:p>
        </p:txBody>
      </p:sp>
      <p:pic>
        <p:nvPicPr>
          <p:cNvPr id="7" name="Picture 6">
            <a:extLst>
              <a:ext uri="{FF2B5EF4-FFF2-40B4-BE49-F238E27FC236}">
                <a16:creationId xmlns:a16="http://schemas.microsoft.com/office/drawing/2014/main" xmlns="" id="{ED021FAA-D7D2-2AC9-9671-5BB42EAD3E0C}"/>
              </a:ext>
            </a:extLst>
          </p:cNvPr>
          <p:cNvPicPr>
            <a:picLocks noChangeAspect="1"/>
          </p:cNvPicPr>
          <p:nvPr/>
        </p:nvPicPr>
        <p:blipFill>
          <a:blip r:embed="rId3"/>
          <a:stretch>
            <a:fillRect/>
          </a:stretch>
        </p:blipFill>
        <p:spPr>
          <a:xfrm>
            <a:off x="10621941" y="347402"/>
            <a:ext cx="1115077" cy="1069279"/>
          </a:xfrm>
          <a:prstGeom prst="rect">
            <a:avLst/>
          </a:prstGeom>
        </p:spPr>
      </p:pic>
    </p:spTree>
    <p:extLst>
      <p:ext uri="{BB962C8B-B14F-4D97-AF65-F5344CB8AC3E}">
        <p14:creationId xmlns:p14="http://schemas.microsoft.com/office/powerpoint/2010/main" val="731301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497A98-BF7B-8582-A3F8-BA989E42E9E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xmlns="" id="{5789E511-DAF9-5D0D-BB7A-B121EB9FC99B}"/>
              </a:ext>
            </a:extLst>
          </p:cNvPr>
          <p:cNvPicPr>
            <a:picLocks noChangeAspect="1"/>
          </p:cNvPicPr>
          <p:nvPr/>
        </p:nvPicPr>
        <p:blipFill>
          <a:blip r:embed="rId2"/>
          <a:stretch>
            <a:fillRect/>
          </a:stretch>
        </p:blipFill>
        <p:spPr>
          <a:xfrm>
            <a:off x="327891" y="386967"/>
            <a:ext cx="1791857" cy="1027836"/>
          </a:xfrm>
          <a:prstGeom prst="rect">
            <a:avLst/>
          </a:prstGeom>
        </p:spPr>
      </p:pic>
      <p:sp>
        <p:nvSpPr>
          <p:cNvPr id="11" name="TextBox 10">
            <a:extLst>
              <a:ext uri="{FF2B5EF4-FFF2-40B4-BE49-F238E27FC236}">
                <a16:creationId xmlns:a16="http://schemas.microsoft.com/office/drawing/2014/main" xmlns="" id="{CAD475A4-2D87-9CBA-9419-DA56055DFAF6}"/>
              </a:ext>
            </a:extLst>
          </p:cNvPr>
          <p:cNvSpPr txBox="1"/>
          <p:nvPr/>
        </p:nvSpPr>
        <p:spPr>
          <a:xfrm>
            <a:off x="2940191" y="462030"/>
            <a:ext cx="6412419" cy="10080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xmlns="" id="{204DBFA5-880F-29B0-8784-C35A57EC69FF}"/>
              </a:ext>
            </a:extLst>
          </p:cNvPr>
          <p:cNvSpPr txBox="1"/>
          <p:nvPr/>
        </p:nvSpPr>
        <p:spPr>
          <a:xfrm>
            <a:off x="2884188" y="434028"/>
            <a:ext cx="665043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latin typeface="Times New Roman"/>
                <a:cs typeface="Times New Roman"/>
              </a:rPr>
              <a:t> </a:t>
            </a:r>
          </a:p>
        </p:txBody>
      </p:sp>
      <p:sp>
        <p:nvSpPr>
          <p:cNvPr id="2" name="TextBox 1">
            <a:extLst>
              <a:ext uri="{FF2B5EF4-FFF2-40B4-BE49-F238E27FC236}">
                <a16:creationId xmlns:a16="http://schemas.microsoft.com/office/drawing/2014/main" xmlns="" id="{AC818FBF-21F6-9FA8-5CEB-4816881F9FC6}"/>
              </a:ext>
            </a:extLst>
          </p:cNvPr>
          <p:cNvSpPr txBox="1"/>
          <p:nvPr/>
        </p:nvSpPr>
        <p:spPr>
          <a:xfrm>
            <a:off x="2142140" y="392025"/>
            <a:ext cx="807852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latin typeface="Times New Roman"/>
                <a:cs typeface="Times New Roman"/>
              </a:rPr>
              <a:t>Project Objectives</a:t>
            </a:r>
            <a:endParaRPr lang="en-US"/>
          </a:p>
        </p:txBody>
      </p:sp>
      <p:sp>
        <p:nvSpPr>
          <p:cNvPr id="3" name="TextBox 2">
            <a:extLst>
              <a:ext uri="{FF2B5EF4-FFF2-40B4-BE49-F238E27FC236}">
                <a16:creationId xmlns:a16="http://schemas.microsoft.com/office/drawing/2014/main" xmlns="" id="{6CAA8DF5-02F9-BB85-E61B-EC4EF9790E26}"/>
              </a:ext>
            </a:extLst>
          </p:cNvPr>
          <p:cNvSpPr txBox="1"/>
          <p:nvPr/>
        </p:nvSpPr>
        <p:spPr>
          <a:xfrm>
            <a:off x="700045" y="1722112"/>
            <a:ext cx="11242735"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latin typeface="Times New Roman"/>
                <a:ea typeface="+mn-lt"/>
                <a:cs typeface="Times New Roman"/>
              </a:rPr>
              <a:t>Prevent Duplicate Payments</a:t>
            </a:r>
            <a:r>
              <a:rPr lang="en-US" dirty="0">
                <a:latin typeface="Times New Roman"/>
                <a:ea typeface="+mn-lt"/>
                <a:cs typeface="Times New Roman"/>
              </a:rPr>
              <a:t/>
            </a:r>
            <a:br>
              <a:rPr lang="en-US" dirty="0">
                <a:latin typeface="Times New Roman"/>
                <a:ea typeface="+mn-lt"/>
                <a:cs typeface="Times New Roman"/>
              </a:rPr>
            </a:br>
            <a:r>
              <a:rPr lang="en-US" dirty="0">
                <a:latin typeface="Times New Roman"/>
                <a:ea typeface="+mn-lt"/>
                <a:cs typeface="Times New Roman"/>
              </a:rPr>
              <a:t> Develop a system that identifies repeated payment requests and ensures that the same payment is processed only once, even when the user retries because of network problems or accidental clicks. </a:t>
            </a:r>
            <a:endParaRPr lang="en-US" dirty="0">
              <a:latin typeface="Times New Roman"/>
              <a:cs typeface="Times New Roman"/>
            </a:endParaRPr>
          </a:p>
          <a:p>
            <a:pPr marL="285750" indent="-285750">
              <a:buFont typeface="Arial"/>
              <a:buChar char="•"/>
            </a:pPr>
            <a:r>
              <a:rPr lang="en-US" b="1" dirty="0">
                <a:latin typeface="Times New Roman"/>
                <a:ea typeface="+mn-lt"/>
                <a:cs typeface="Times New Roman"/>
              </a:rPr>
              <a:t>Maintain Correct Account Balanc</a:t>
            </a:r>
            <a:r>
              <a:rPr lang="en-US" dirty="0">
                <a:latin typeface="Times New Roman"/>
                <a:ea typeface="+mn-lt"/>
                <a:cs typeface="Times New Roman"/>
              </a:rPr>
              <a:t>e</a:t>
            </a:r>
            <a:br>
              <a:rPr lang="en-US" dirty="0">
                <a:latin typeface="Times New Roman"/>
                <a:ea typeface="+mn-lt"/>
                <a:cs typeface="Times New Roman"/>
              </a:rPr>
            </a:br>
            <a:r>
              <a:rPr lang="en-US" dirty="0">
                <a:latin typeface="Times New Roman"/>
                <a:ea typeface="+mn-lt"/>
                <a:cs typeface="Times New Roman"/>
              </a:rPr>
              <a:t> Ensure that the account balance is updated correctly when multiple users make transactions at the same time, preventing incorrect balance calculations. </a:t>
            </a:r>
            <a:endParaRPr lang="en-US" dirty="0">
              <a:latin typeface="Times New Roman"/>
              <a:cs typeface="Times New Roman"/>
            </a:endParaRPr>
          </a:p>
          <a:p>
            <a:pPr marL="285750" indent="-285750">
              <a:buFont typeface="Arial"/>
              <a:buChar char="•"/>
            </a:pPr>
            <a:r>
              <a:rPr lang="en-US" b="1" dirty="0">
                <a:latin typeface="Times New Roman"/>
                <a:ea typeface="+mn-lt"/>
                <a:cs typeface="Times New Roman"/>
              </a:rPr>
              <a:t>Handle Payment Failures Safely</a:t>
            </a:r>
            <a:r>
              <a:rPr lang="en-US" dirty="0">
                <a:latin typeface="Times New Roman"/>
                <a:ea typeface="+mn-lt"/>
                <a:cs typeface="Times New Roman"/>
              </a:rPr>
              <a:t/>
            </a:r>
            <a:br>
              <a:rPr lang="en-US" dirty="0">
                <a:latin typeface="Times New Roman"/>
                <a:ea typeface="+mn-lt"/>
                <a:cs typeface="Times New Roman"/>
              </a:rPr>
            </a:br>
            <a:r>
              <a:rPr lang="en-US" dirty="0">
                <a:latin typeface="Times New Roman"/>
                <a:ea typeface="+mn-lt"/>
                <a:cs typeface="Times New Roman"/>
              </a:rPr>
              <a:t> Manage network errors, server failures, and interrupted transactions so that payments are not lost or processed twice. </a:t>
            </a:r>
            <a:endParaRPr lang="en-US" dirty="0">
              <a:latin typeface="Times New Roman"/>
              <a:cs typeface="Times New Roman"/>
            </a:endParaRPr>
          </a:p>
          <a:p>
            <a:pPr marL="285750" indent="-285750">
              <a:buFont typeface="Arial"/>
              <a:buChar char="•"/>
            </a:pPr>
            <a:r>
              <a:rPr lang="en-US" b="1" dirty="0">
                <a:latin typeface="Times New Roman"/>
                <a:ea typeface="+mn-lt"/>
                <a:cs typeface="Times New Roman"/>
              </a:rPr>
              <a:t>Maintain Transaction Consistenc</a:t>
            </a:r>
            <a:r>
              <a:rPr lang="en-US" dirty="0">
                <a:latin typeface="Times New Roman"/>
                <a:ea typeface="+mn-lt"/>
                <a:cs typeface="Times New Roman"/>
              </a:rPr>
              <a:t>y</a:t>
            </a:r>
            <a:br>
              <a:rPr lang="en-US" dirty="0">
                <a:latin typeface="Times New Roman"/>
                <a:ea typeface="+mn-lt"/>
                <a:cs typeface="Times New Roman"/>
              </a:rPr>
            </a:br>
            <a:r>
              <a:rPr lang="en-US" dirty="0">
                <a:latin typeface="Times New Roman"/>
                <a:ea typeface="+mn-lt"/>
                <a:cs typeface="Times New Roman"/>
              </a:rPr>
              <a:t> Keep the payment status, transaction details, and account balance synchronized so that the system always shows the correct financial information. </a:t>
            </a:r>
            <a:endParaRPr lang="en-US" dirty="0">
              <a:latin typeface="Times New Roman"/>
              <a:cs typeface="Times New Roman"/>
            </a:endParaRPr>
          </a:p>
          <a:p>
            <a:pPr marL="285750" indent="-285750">
              <a:buFont typeface="Arial"/>
              <a:buChar char="•"/>
            </a:pPr>
            <a:r>
              <a:rPr lang="en-US" b="1" dirty="0">
                <a:latin typeface="Times New Roman"/>
                <a:ea typeface="+mn-lt"/>
                <a:cs typeface="Times New Roman"/>
              </a:rPr>
              <a:t>Improve Reliability and Performanc</a:t>
            </a:r>
            <a:r>
              <a:rPr lang="en-US" dirty="0">
                <a:latin typeface="Times New Roman"/>
                <a:ea typeface="+mn-lt"/>
                <a:cs typeface="Times New Roman"/>
              </a:rPr>
              <a:t>e</a:t>
            </a:r>
            <a:br>
              <a:rPr lang="en-US" dirty="0">
                <a:latin typeface="Times New Roman"/>
                <a:ea typeface="+mn-lt"/>
                <a:cs typeface="Times New Roman"/>
              </a:rPr>
            </a:br>
            <a:r>
              <a:rPr lang="en-US" dirty="0">
                <a:latin typeface="Times New Roman"/>
                <a:ea typeface="+mn-lt"/>
                <a:cs typeface="Times New Roman"/>
              </a:rPr>
              <a:t> Build a payment system that can handle multiple transactions simultaneously while maintaining accuracy, reliability, and good performance. </a:t>
            </a:r>
            <a:endParaRPr lang="en-US" dirty="0">
              <a:latin typeface="Times New Roman"/>
              <a:cs typeface="Times New Roman"/>
            </a:endParaRPr>
          </a:p>
          <a:p>
            <a:pPr algn="l"/>
            <a:endParaRPr lang="en-US" dirty="0">
              <a:latin typeface="Times New Roman"/>
              <a:cs typeface="Times New Roman"/>
            </a:endParaRPr>
          </a:p>
        </p:txBody>
      </p:sp>
      <p:pic>
        <p:nvPicPr>
          <p:cNvPr id="4" name="Picture 3">
            <a:extLst>
              <a:ext uri="{FF2B5EF4-FFF2-40B4-BE49-F238E27FC236}">
                <a16:creationId xmlns:a16="http://schemas.microsoft.com/office/drawing/2014/main" xmlns="" id="{10E66E05-F5A4-A2C4-14AD-7243A997531C}"/>
              </a:ext>
            </a:extLst>
          </p:cNvPr>
          <p:cNvPicPr>
            <a:picLocks noChangeAspect="1"/>
          </p:cNvPicPr>
          <p:nvPr/>
        </p:nvPicPr>
        <p:blipFill>
          <a:blip r:embed="rId3"/>
          <a:stretch>
            <a:fillRect/>
          </a:stretch>
        </p:blipFill>
        <p:spPr>
          <a:xfrm>
            <a:off x="10583825" y="455582"/>
            <a:ext cx="1115868" cy="1014556"/>
          </a:xfrm>
          <a:prstGeom prst="rect">
            <a:avLst/>
          </a:prstGeom>
        </p:spPr>
      </p:pic>
    </p:spTree>
    <p:extLst>
      <p:ext uri="{BB962C8B-B14F-4D97-AF65-F5344CB8AC3E}">
        <p14:creationId xmlns:p14="http://schemas.microsoft.com/office/powerpoint/2010/main" val="3435038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3CDDC4C-DAF0-7FCB-7CDA-7B646EEBA85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xmlns="" id="{F4185FB2-5BA8-43AE-9BA3-CAE437FAE2C9}"/>
              </a:ext>
            </a:extLst>
          </p:cNvPr>
          <p:cNvPicPr>
            <a:picLocks noChangeAspect="1"/>
          </p:cNvPicPr>
          <p:nvPr/>
        </p:nvPicPr>
        <p:blipFill>
          <a:blip r:embed="rId2"/>
          <a:srcRect t="7698" r="10215" b="5252"/>
          <a:stretch>
            <a:fillRect/>
          </a:stretch>
        </p:blipFill>
        <p:spPr>
          <a:xfrm>
            <a:off x="108527" y="483855"/>
            <a:ext cx="1768532" cy="983930"/>
          </a:xfrm>
          <a:prstGeom prst="rect">
            <a:avLst/>
          </a:prstGeom>
        </p:spPr>
      </p:pic>
      <p:sp>
        <p:nvSpPr>
          <p:cNvPr id="11" name="TextBox 10">
            <a:extLst>
              <a:ext uri="{FF2B5EF4-FFF2-40B4-BE49-F238E27FC236}">
                <a16:creationId xmlns:a16="http://schemas.microsoft.com/office/drawing/2014/main" xmlns="" id="{641F72D7-71FA-7BC5-BB1A-D0C36893A6EE}"/>
              </a:ext>
            </a:extLst>
          </p:cNvPr>
          <p:cNvSpPr txBox="1"/>
          <p:nvPr/>
        </p:nvSpPr>
        <p:spPr>
          <a:xfrm>
            <a:off x="2940191" y="462030"/>
            <a:ext cx="6412419" cy="10080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xmlns="" id="{B0C6482B-7085-6FD9-7812-EE09DEABFB44}"/>
              </a:ext>
            </a:extLst>
          </p:cNvPr>
          <p:cNvSpPr txBox="1"/>
          <p:nvPr/>
        </p:nvSpPr>
        <p:spPr>
          <a:xfrm>
            <a:off x="2884188" y="434028"/>
            <a:ext cx="665043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latin typeface="Times New Roman"/>
                <a:cs typeface="Times New Roman"/>
              </a:rPr>
              <a:t> </a:t>
            </a:r>
          </a:p>
        </p:txBody>
      </p:sp>
      <p:sp>
        <p:nvSpPr>
          <p:cNvPr id="2" name="TextBox 1">
            <a:extLst>
              <a:ext uri="{FF2B5EF4-FFF2-40B4-BE49-F238E27FC236}">
                <a16:creationId xmlns:a16="http://schemas.microsoft.com/office/drawing/2014/main" xmlns="" id="{31B77F77-4FE7-AEF5-50AE-CBD1966646A9}"/>
              </a:ext>
            </a:extLst>
          </p:cNvPr>
          <p:cNvSpPr txBox="1"/>
          <p:nvPr/>
        </p:nvSpPr>
        <p:spPr>
          <a:xfrm>
            <a:off x="2870187" y="574037"/>
            <a:ext cx="642642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latin typeface="Times New Roman"/>
                <a:cs typeface="Times New Roman"/>
              </a:rPr>
              <a:t>Project Scope</a:t>
            </a:r>
          </a:p>
        </p:txBody>
      </p:sp>
      <p:sp>
        <p:nvSpPr>
          <p:cNvPr id="3" name="TextBox 2">
            <a:extLst>
              <a:ext uri="{FF2B5EF4-FFF2-40B4-BE49-F238E27FC236}">
                <a16:creationId xmlns:a16="http://schemas.microsoft.com/office/drawing/2014/main" xmlns="" id="{53E230F2-9ACF-1EBF-206A-ABAC7A611932}"/>
              </a:ext>
            </a:extLst>
          </p:cNvPr>
          <p:cNvSpPr txBox="1"/>
          <p:nvPr/>
        </p:nvSpPr>
        <p:spPr>
          <a:xfrm>
            <a:off x="406026" y="1834120"/>
            <a:ext cx="11466749"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latin typeface="Times New Roman"/>
                <a:ea typeface="+mn-lt"/>
                <a:cs typeface="Times New Roman"/>
              </a:rPr>
              <a:t>Secure Payment Processing</a:t>
            </a:r>
            <a:r>
              <a:rPr lang="en-US" dirty="0">
                <a:latin typeface="Times New Roman"/>
                <a:ea typeface="+mn-lt"/>
                <a:cs typeface="Times New Roman"/>
              </a:rPr>
              <a:t/>
            </a:r>
            <a:br>
              <a:rPr lang="en-US" dirty="0">
                <a:latin typeface="Times New Roman"/>
                <a:ea typeface="+mn-lt"/>
                <a:cs typeface="Times New Roman"/>
              </a:rPr>
            </a:br>
            <a:r>
              <a:rPr lang="en-US" dirty="0">
                <a:latin typeface="Times New Roman"/>
                <a:ea typeface="+mn-lt"/>
                <a:cs typeface="Times New Roman"/>
              </a:rPr>
              <a:t> The system will process payment requests safely and ensure that each payment is recorded correctly. </a:t>
            </a:r>
            <a:endParaRPr lang="en-US" dirty="0">
              <a:latin typeface="Times New Roman"/>
              <a:cs typeface="Times New Roman"/>
            </a:endParaRPr>
          </a:p>
          <a:p>
            <a:pPr marL="285750" indent="-285750">
              <a:buFont typeface="Arial"/>
              <a:buChar char="•"/>
            </a:pPr>
            <a:r>
              <a:rPr lang="en-US" b="1" dirty="0">
                <a:latin typeface="Times New Roman"/>
                <a:ea typeface="+mn-lt"/>
                <a:cs typeface="Times New Roman"/>
              </a:rPr>
              <a:t>Duplicate Payment Prevention</a:t>
            </a:r>
            <a:r>
              <a:rPr lang="en-US" dirty="0">
                <a:latin typeface="Times New Roman"/>
                <a:ea typeface="+mn-lt"/>
                <a:cs typeface="Times New Roman"/>
              </a:rPr>
              <a:t/>
            </a:r>
            <a:br>
              <a:rPr lang="en-US" dirty="0">
                <a:latin typeface="Times New Roman"/>
                <a:ea typeface="+mn-lt"/>
                <a:cs typeface="Times New Roman"/>
              </a:rPr>
            </a:br>
            <a:r>
              <a:rPr lang="en-US" dirty="0">
                <a:latin typeface="Times New Roman"/>
                <a:ea typeface="+mn-lt"/>
                <a:cs typeface="Times New Roman"/>
              </a:rPr>
              <a:t> The system will identify repeated requests using unique idempotency keys and prevent the same payment from being processed twice. </a:t>
            </a:r>
            <a:endParaRPr lang="en-US" dirty="0">
              <a:latin typeface="Times New Roman"/>
              <a:cs typeface="Times New Roman"/>
            </a:endParaRPr>
          </a:p>
          <a:p>
            <a:pPr marL="285750" indent="-285750">
              <a:buFont typeface="Arial"/>
              <a:buChar char="•"/>
            </a:pPr>
            <a:r>
              <a:rPr lang="en-US" b="1" dirty="0">
                <a:latin typeface="Times New Roman"/>
                <a:ea typeface="+mn-lt"/>
                <a:cs typeface="Times New Roman"/>
              </a:rPr>
              <a:t>Concurrent Transaction Handling</a:t>
            </a:r>
            <a:r>
              <a:rPr lang="en-US" dirty="0">
                <a:latin typeface="Times New Roman"/>
                <a:ea typeface="+mn-lt"/>
                <a:cs typeface="Times New Roman"/>
              </a:rPr>
              <a:t/>
            </a:r>
            <a:br>
              <a:rPr lang="en-US" dirty="0">
                <a:latin typeface="Times New Roman"/>
                <a:ea typeface="+mn-lt"/>
                <a:cs typeface="Times New Roman"/>
              </a:rPr>
            </a:br>
            <a:r>
              <a:rPr lang="en-US" dirty="0">
                <a:latin typeface="Times New Roman"/>
                <a:ea typeface="+mn-lt"/>
                <a:cs typeface="Times New Roman"/>
              </a:rPr>
              <a:t> The system will safely handle multiple transactions occurring at the same time and prevent incorrect account balances. </a:t>
            </a:r>
            <a:endParaRPr lang="en-US" dirty="0">
              <a:latin typeface="Times New Roman"/>
              <a:cs typeface="Times New Roman"/>
            </a:endParaRPr>
          </a:p>
          <a:p>
            <a:pPr marL="285750" indent="-285750">
              <a:buFont typeface="Arial"/>
              <a:buChar char="•"/>
            </a:pPr>
            <a:r>
              <a:rPr lang="en-US" b="1" dirty="0">
                <a:latin typeface="Times New Roman"/>
                <a:ea typeface="+mn-lt"/>
                <a:cs typeface="Times New Roman"/>
              </a:rPr>
              <a:t>Failure Handling</a:t>
            </a:r>
            <a:r>
              <a:rPr lang="en-US" dirty="0">
                <a:latin typeface="Times New Roman"/>
                <a:ea typeface="+mn-lt"/>
                <a:cs typeface="Times New Roman"/>
              </a:rPr>
              <a:t/>
            </a:r>
            <a:br>
              <a:rPr lang="en-US" dirty="0">
                <a:latin typeface="Times New Roman"/>
                <a:ea typeface="+mn-lt"/>
                <a:cs typeface="Times New Roman"/>
              </a:rPr>
            </a:br>
            <a:r>
              <a:rPr lang="en-US" dirty="0">
                <a:latin typeface="Times New Roman"/>
                <a:ea typeface="+mn-lt"/>
                <a:cs typeface="Times New Roman"/>
              </a:rPr>
              <a:t> The system will handle network errors, server failures, and payment retries without causing duplicate or incomplete transactions. </a:t>
            </a:r>
            <a:endParaRPr lang="en-US" dirty="0">
              <a:latin typeface="Times New Roman"/>
              <a:cs typeface="Times New Roman"/>
            </a:endParaRPr>
          </a:p>
          <a:p>
            <a:pPr marL="285750" indent="-285750">
              <a:buFont typeface="Arial"/>
              <a:buChar char="•"/>
            </a:pPr>
            <a:r>
              <a:rPr lang="en-US" b="1" dirty="0">
                <a:latin typeface="Times New Roman"/>
                <a:ea typeface="+mn-lt"/>
                <a:cs typeface="Times New Roman"/>
              </a:rPr>
              <a:t>Transaction Management</a:t>
            </a:r>
            <a:r>
              <a:rPr lang="en-US" dirty="0">
                <a:latin typeface="Times New Roman"/>
                <a:ea typeface="+mn-lt"/>
                <a:cs typeface="Times New Roman"/>
              </a:rPr>
              <a:t/>
            </a:r>
            <a:br>
              <a:rPr lang="en-US" dirty="0">
                <a:latin typeface="Times New Roman"/>
                <a:ea typeface="+mn-lt"/>
                <a:cs typeface="Times New Roman"/>
              </a:rPr>
            </a:br>
            <a:r>
              <a:rPr lang="en-US" dirty="0">
                <a:latin typeface="Times New Roman"/>
                <a:ea typeface="+mn-lt"/>
                <a:cs typeface="Times New Roman"/>
              </a:rPr>
              <a:t> The system will maintain payment records, transaction status, and account balances in a consistent manner. </a:t>
            </a:r>
            <a:endParaRPr lang="en-US" dirty="0">
              <a:latin typeface="Times New Roman"/>
              <a:cs typeface="Times New Roman"/>
            </a:endParaRPr>
          </a:p>
          <a:p>
            <a:pPr marL="285750" indent="-285750">
              <a:buFont typeface="Arial"/>
              <a:buChar char="•"/>
            </a:pPr>
            <a:r>
              <a:rPr lang="en-US" b="1" dirty="0">
                <a:latin typeface="Times New Roman"/>
                <a:ea typeface="+mn-lt"/>
                <a:cs typeface="Times New Roman"/>
              </a:rPr>
              <a:t>Scalability and Testing</a:t>
            </a:r>
            <a:r>
              <a:rPr lang="en-US" dirty="0">
                <a:latin typeface="Times New Roman"/>
                <a:ea typeface="+mn-lt"/>
                <a:cs typeface="Times New Roman"/>
              </a:rPr>
              <a:t/>
            </a:r>
            <a:br>
              <a:rPr lang="en-US" dirty="0">
                <a:latin typeface="Times New Roman"/>
                <a:ea typeface="+mn-lt"/>
                <a:cs typeface="Times New Roman"/>
              </a:rPr>
            </a:br>
            <a:r>
              <a:rPr lang="en-US" dirty="0">
                <a:latin typeface="Times New Roman"/>
                <a:ea typeface="+mn-lt"/>
                <a:cs typeface="Times New Roman"/>
              </a:rPr>
              <a:t> The system will be tested with multiple simultaneous payment requests to evaluate its accuracy, performance, and reliability under different loads. </a:t>
            </a:r>
            <a:endParaRPr lang="en-US" dirty="0">
              <a:latin typeface="Times New Roman"/>
              <a:cs typeface="Times New Roman"/>
            </a:endParaRPr>
          </a:p>
          <a:p>
            <a:pPr algn="l"/>
            <a:endParaRPr lang="en-US" dirty="0">
              <a:latin typeface="Times New Roman"/>
              <a:cs typeface="Times New Roman"/>
            </a:endParaRPr>
          </a:p>
        </p:txBody>
      </p:sp>
      <p:pic>
        <p:nvPicPr>
          <p:cNvPr id="4" name="Picture 3">
            <a:extLst>
              <a:ext uri="{FF2B5EF4-FFF2-40B4-BE49-F238E27FC236}">
                <a16:creationId xmlns:a16="http://schemas.microsoft.com/office/drawing/2014/main" xmlns="" id="{691FAE89-BB13-C7F4-144B-7D0843A7FB7F}"/>
              </a:ext>
            </a:extLst>
          </p:cNvPr>
          <p:cNvPicPr>
            <a:picLocks noChangeAspect="1"/>
          </p:cNvPicPr>
          <p:nvPr/>
        </p:nvPicPr>
        <p:blipFill>
          <a:blip r:embed="rId3"/>
          <a:stretch>
            <a:fillRect/>
          </a:stretch>
        </p:blipFill>
        <p:spPr>
          <a:xfrm>
            <a:off x="10300566" y="439450"/>
            <a:ext cx="1208231" cy="1233918"/>
          </a:xfrm>
          <a:prstGeom prst="rect">
            <a:avLst/>
          </a:prstGeom>
        </p:spPr>
      </p:pic>
    </p:spTree>
    <p:extLst>
      <p:ext uri="{BB962C8B-B14F-4D97-AF65-F5344CB8AC3E}">
        <p14:creationId xmlns:p14="http://schemas.microsoft.com/office/powerpoint/2010/main" val="3393532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97212B8-DDC1-7365-BD3A-C1B0FDD3E39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xmlns="" id="{3765F90F-859D-1DAD-763B-2A50B4149675}"/>
              </a:ext>
            </a:extLst>
          </p:cNvPr>
          <p:cNvPicPr>
            <a:picLocks noChangeAspect="1"/>
          </p:cNvPicPr>
          <p:nvPr/>
        </p:nvPicPr>
        <p:blipFill>
          <a:blip r:embed="rId2"/>
          <a:stretch>
            <a:fillRect/>
          </a:stretch>
        </p:blipFill>
        <p:spPr>
          <a:xfrm>
            <a:off x="108527" y="340785"/>
            <a:ext cx="1768765" cy="1131745"/>
          </a:xfrm>
          <a:prstGeom prst="rect">
            <a:avLst/>
          </a:prstGeom>
        </p:spPr>
      </p:pic>
      <p:sp>
        <p:nvSpPr>
          <p:cNvPr id="11" name="TextBox 10">
            <a:extLst>
              <a:ext uri="{FF2B5EF4-FFF2-40B4-BE49-F238E27FC236}">
                <a16:creationId xmlns:a16="http://schemas.microsoft.com/office/drawing/2014/main" xmlns="" id="{D4467C84-6EBC-AE37-BD3F-725A4ECBD0DA}"/>
              </a:ext>
            </a:extLst>
          </p:cNvPr>
          <p:cNvSpPr txBox="1"/>
          <p:nvPr/>
        </p:nvSpPr>
        <p:spPr>
          <a:xfrm>
            <a:off x="2940191" y="462030"/>
            <a:ext cx="6412419" cy="10080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xmlns="" id="{E0BCDA99-7629-7534-64D8-1FAA22BE218C}"/>
              </a:ext>
            </a:extLst>
          </p:cNvPr>
          <p:cNvSpPr txBox="1"/>
          <p:nvPr/>
        </p:nvSpPr>
        <p:spPr>
          <a:xfrm>
            <a:off x="2884188" y="434028"/>
            <a:ext cx="665043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latin typeface="Times New Roman"/>
                <a:cs typeface="Times New Roman"/>
              </a:rPr>
              <a:t> </a:t>
            </a:r>
          </a:p>
        </p:txBody>
      </p:sp>
      <p:sp>
        <p:nvSpPr>
          <p:cNvPr id="2" name="TextBox 1">
            <a:extLst>
              <a:ext uri="{FF2B5EF4-FFF2-40B4-BE49-F238E27FC236}">
                <a16:creationId xmlns:a16="http://schemas.microsoft.com/office/drawing/2014/main" xmlns="" id="{F09C8E63-553F-6C12-A510-A383BEF4BD33}"/>
              </a:ext>
            </a:extLst>
          </p:cNvPr>
          <p:cNvSpPr txBox="1"/>
          <p:nvPr/>
        </p:nvSpPr>
        <p:spPr>
          <a:xfrm>
            <a:off x="2870187" y="574037"/>
            <a:ext cx="642642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latin typeface="Times New Roman"/>
                <a:cs typeface="Times New Roman"/>
              </a:rPr>
              <a:t>Abstract</a:t>
            </a:r>
            <a:endParaRPr lang="en-US" dirty="0"/>
          </a:p>
        </p:txBody>
      </p:sp>
      <p:sp>
        <p:nvSpPr>
          <p:cNvPr id="3" name="TextBox 2">
            <a:extLst>
              <a:ext uri="{FF2B5EF4-FFF2-40B4-BE49-F238E27FC236}">
                <a16:creationId xmlns:a16="http://schemas.microsoft.com/office/drawing/2014/main" xmlns="" id="{135518D7-0776-C06C-DAA3-2918E3EF11F6}"/>
              </a:ext>
            </a:extLst>
          </p:cNvPr>
          <p:cNvSpPr txBox="1"/>
          <p:nvPr/>
        </p:nvSpPr>
        <p:spPr>
          <a:xfrm>
            <a:off x="476031" y="1764115"/>
            <a:ext cx="11200732"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ea typeface="+mn-lt"/>
                <a:cs typeface="Times New Roman"/>
              </a:rPr>
              <a:t>Online payment systems handle a large number of transactions every day, making payment reliability and data consistency important. Network failures, repeated requests, and multiple transactions at the same time can lead to problems such as duplicate payments and incorrect account balances. This project proposes a reliable payment processing system that addresses these issues.</a:t>
            </a:r>
            <a:endParaRPr lang="en-US" dirty="0">
              <a:latin typeface="Times New Roman"/>
              <a:cs typeface="Times New Roman"/>
            </a:endParaRPr>
          </a:p>
          <a:p>
            <a:pPr marL="285750" indent="-285750">
              <a:buFont typeface="Arial"/>
              <a:buChar char="•"/>
            </a:pPr>
            <a:endParaRPr lang="en-US" dirty="0">
              <a:latin typeface="Times New Roman"/>
              <a:ea typeface="+mn-lt"/>
              <a:cs typeface="Times New Roman"/>
            </a:endParaRPr>
          </a:p>
          <a:p>
            <a:r>
              <a:rPr lang="en-US" dirty="0">
                <a:latin typeface="Times New Roman"/>
                <a:ea typeface="+mn-lt"/>
                <a:cs typeface="Times New Roman"/>
              </a:rPr>
              <a:t>The proposed system uses </a:t>
            </a:r>
            <a:r>
              <a:rPr lang="en-US" b="1" dirty="0">
                <a:latin typeface="Times New Roman"/>
                <a:ea typeface="+mn-lt"/>
                <a:cs typeface="Times New Roman"/>
              </a:rPr>
              <a:t>idempotency keys</a:t>
            </a:r>
            <a:r>
              <a:rPr lang="en-US" dirty="0">
                <a:latin typeface="Times New Roman"/>
                <a:ea typeface="+mn-lt"/>
                <a:cs typeface="Times New Roman"/>
              </a:rPr>
              <a:t> to identify repeated payment requests and prevent duplicate payments. </a:t>
            </a:r>
            <a:r>
              <a:rPr lang="en-US" b="1" dirty="0">
                <a:latin typeface="Times New Roman"/>
                <a:ea typeface="+mn-lt"/>
                <a:cs typeface="Times New Roman"/>
              </a:rPr>
              <a:t>Database locking</a:t>
            </a:r>
            <a:r>
              <a:rPr lang="en-US" dirty="0">
                <a:latin typeface="Times New Roman"/>
                <a:ea typeface="+mn-lt"/>
                <a:cs typeface="Times New Roman"/>
              </a:rPr>
              <a:t> is used to safely handle multiple transactions occurring simultaneously and maintain accurate account balances. The system also manages network and server failures by maintaining the status of each transaction and safely handling payment retries.</a:t>
            </a:r>
            <a:endParaRPr lang="en-US" dirty="0">
              <a:latin typeface="Times New Roman"/>
              <a:cs typeface="Times New Roman"/>
            </a:endParaRPr>
          </a:p>
          <a:p>
            <a:pPr marL="285750" indent="-285750">
              <a:buFont typeface="Arial"/>
              <a:buChar char="•"/>
            </a:pPr>
            <a:endParaRPr lang="en-US" dirty="0">
              <a:latin typeface="Times New Roman"/>
              <a:ea typeface="+mn-lt"/>
              <a:cs typeface="Times New Roman"/>
            </a:endParaRPr>
          </a:p>
          <a:p>
            <a:r>
              <a:rPr lang="en-US" dirty="0">
                <a:latin typeface="Times New Roman"/>
                <a:ea typeface="+mn-lt"/>
                <a:cs typeface="Times New Roman"/>
              </a:rPr>
              <a:t>The main goal of the project is to develop a </a:t>
            </a:r>
            <a:r>
              <a:rPr lang="en-US" b="1" dirty="0">
                <a:latin typeface="Times New Roman"/>
                <a:ea typeface="+mn-lt"/>
                <a:cs typeface="Times New Roman"/>
              </a:rPr>
              <a:t>reliable, consistent, and scalable payment gateway</a:t>
            </a:r>
            <a:r>
              <a:rPr lang="en-US" dirty="0">
                <a:latin typeface="Times New Roman"/>
                <a:ea typeface="+mn-lt"/>
                <a:cs typeface="Times New Roman"/>
              </a:rPr>
              <a:t> that can process transactions safely even during failures and high-concurrency situations. The proposed approach can be useful in applications such as e-commerce, banking, digital wallets, and other financial systems where accurate payment processing is essential.</a:t>
            </a:r>
            <a:endParaRPr lang="en-US" dirty="0">
              <a:latin typeface="Times New Roman"/>
              <a:cs typeface="Times New Roman"/>
            </a:endParaRPr>
          </a:p>
          <a:p>
            <a:pPr marL="285750" indent="-285750" algn="l">
              <a:buFont typeface="Arial"/>
              <a:buChar char="•"/>
            </a:pPr>
            <a:endParaRPr lang="en-US" dirty="0">
              <a:latin typeface="Times New Roman"/>
              <a:cs typeface="Times New Roman"/>
            </a:endParaRPr>
          </a:p>
        </p:txBody>
      </p:sp>
      <p:pic>
        <p:nvPicPr>
          <p:cNvPr id="4" name="Picture 3">
            <a:extLst>
              <a:ext uri="{FF2B5EF4-FFF2-40B4-BE49-F238E27FC236}">
                <a16:creationId xmlns:a16="http://schemas.microsoft.com/office/drawing/2014/main" xmlns="" id="{4D52FC41-9798-3DA3-F55E-B11E818ED00B}"/>
              </a:ext>
            </a:extLst>
          </p:cNvPr>
          <p:cNvPicPr>
            <a:picLocks noChangeAspect="1"/>
          </p:cNvPicPr>
          <p:nvPr/>
        </p:nvPicPr>
        <p:blipFill>
          <a:blip r:embed="rId3"/>
          <a:stretch>
            <a:fillRect/>
          </a:stretch>
        </p:blipFill>
        <p:spPr>
          <a:xfrm>
            <a:off x="10543021" y="335542"/>
            <a:ext cx="1127413" cy="1130009"/>
          </a:xfrm>
          <a:prstGeom prst="rect">
            <a:avLst/>
          </a:prstGeom>
        </p:spPr>
      </p:pic>
    </p:spTree>
    <p:extLst>
      <p:ext uri="{BB962C8B-B14F-4D97-AF65-F5344CB8AC3E}">
        <p14:creationId xmlns:p14="http://schemas.microsoft.com/office/powerpoint/2010/main" val="3686627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E89912A-B212-5D0C-F82F-8D5C4C6A9DCE}"/>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xmlns="" id="{FEBAA7B5-E03B-CEB0-9378-F8C08ECF76EA}"/>
              </a:ext>
            </a:extLst>
          </p:cNvPr>
          <p:cNvPicPr>
            <a:picLocks noChangeAspect="1"/>
          </p:cNvPicPr>
          <p:nvPr/>
        </p:nvPicPr>
        <p:blipFill>
          <a:blip r:embed="rId2"/>
          <a:stretch>
            <a:fillRect/>
          </a:stretch>
        </p:blipFill>
        <p:spPr>
          <a:xfrm>
            <a:off x="477982" y="467785"/>
            <a:ext cx="1711038" cy="1004745"/>
          </a:xfrm>
          <a:prstGeom prst="rect">
            <a:avLst/>
          </a:prstGeom>
        </p:spPr>
      </p:pic>
      <p:sp>
        <p:nvSpPr>
          <p:cNvPr id="11" name="TextBox 10">
            <a:extLst>
              <a:ext uri="{FF2B5EF4-FFF2-40B4-BE49-F238E27FC236}">
                <a16:creationId xmlns:a16="http://schemas.microsoft.com/office/drawing/2014/main" xmlns="" id="{9B19A9E1-048C-AFF5-9BED-0849E9BAAC1E}"/>
              </a:ext>
            </a:extLst>
          </p:cNvPr>
          <p:cNvSpPr txBox="1"/>
          <p:nvPr/>
        </p:nvSpPr>
        <p:spPr>
          <a:xfrm>
            <a:off x="2940191" y="462030"/>
            <a:ext cx="6412419" cy="10080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xmlns="" id="{D5EC35B6-0BF2-D4B1-7324-A3874CDCF1DE}"/>
              </a:ext>
            </a:extLst>
          </p:cNvPr>
          <p:cNvSpPr txBox="1"/>
          <p:nvPr/>
        </p:nvSpPr>
        <p:spPr>
          <a:xfrm>
            <a:off x="2884188" y="434028"/>
            <a:ext cx="665043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latin typeface="Times New Roman"/>
                <a:cs typeface="Times New Roman"/>
              </a:rPr>
              <a:t> </a:t>
            </a:r>
          </a:p>
        </p:txBody>
      </p:sp>
      <p:sp>
        <p:nvSpPr>
          <p:cNvPr id="2" name="TextBox 1">
            <a:extLst>
              <a:ext uri="{FF2B5EF4-FFF2-40B4-BE49-F238E27FC236}">
                <a16:creationId xmlns:a16="http://schemas.microsoft.com/office/drawing/2014/main" xmlns="" id="{B7C5C700-D943-CEA5-395A-D10BBEF2BA6A}"/>
              </a:ext>
            </a:extLst>
          </p:cNvPr>
          <p:cNvSpPr txBox="1"/>
          <p:nvPr/>
        </p:nvSpPr>
        <p:spPr>
          <a:xfrm>
            <a:off x="2870187" y="574037"/>
            <a:ext cx="642642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latin typeface="Times New Roman"/>
                <a:cs typeface="Times New Roman"/>
              </a:rPr>
              <a:t>Introduction </a:t>
            </a:r>
            <a:endParaRPr lang="en-US" dirty="0"/>
          </a:p>
        </p:txBody>
      </p:sp>
      <p:sp>
        <p:nvSpPr>
          <p:cNvPr id="3" name="TextBox 2">
            <a:extLst>
              <a:ext uri="{FF2B5EF4-FFF2-40B4-BE49-F238E27FC236}">
                <a16:creationId xmlns:a16="http://schemas.microsoft.com/office/drawing/2014/main" xmlns="" id="{AA23A187-FA58-27DD-8961-0BE665280F80}"/>
              </a:ext>
            </a:extLst>
          </p:cNvPr>
          <p:cNvSpPr txBox="1"/>
          <p:nvPr/>
        </p:nvSpPr>
        <p:spPr>
          <a:xfrm>
            <a:off x="476031" y="1764115"/>
            <a:ext cx="11200732"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1. Domain &amp; Background</a:t>
            </a:r>
            <a:endParaRPr lang="en-US">
              <a:latin typeface="Times New Roman"/>
              <a:cs typeface="Times New Roman"/>
            </a:endParaRPr>
          </a:p>
          <a:p>
            <a:pPr>
              <a:buFont typeface="Arial"/>
              <a:buChar char="•"/>
            </a:pPr>
            <a:r>
              <a:rPr lang="en-US" b="1" dirty="0">
                <a:latin typeface="Times New Roman"/>
                <a:cs typeface="Times New Roman"/>
              </a:rPr>
              <a:t>Online</a:t>
            </a:r>
            <a:r>
              <a:rPr lang="en-US" b="1" dirty="0">
                <a:latin typeface="Times New Roman"/>
                <a:ea typeface="+mn-lt"/>
                <a:cs typeface="Times New Roman"/>
              </a:rPr>
              <a:t> Payments:</a:t>
            </a:r>
            <a:r>
              <a:rPr lang="en-US" dirty="0">
                <a:latin typeface="Times New Roman"/>
                <a:ea typeface="+mn-lt"/>
                <a:cs typeface="Times New Roman"/>
              </a:rPr>
              <a:t> Payment systems are commonly used in e-commerce, banking, and digital wallets.</a:t>
            </a:r>
            <a:endParaRPr lang="en-US">
              <a:latin typeface="Times New Roman"/>
              <a:cs typeface="Times New Roman"/>
            </a:endParaRPr>
          </a:p>
          <a:p>
            <a:pPr>
              <a:buFont typeface="Arial"/>
              <a:buChar char="•"/>
            </a:pPr>
            <a:r>
              <a:rPr lang="en-US" b="1" dirty="0">
                <a:latin typeface="Times New Roman"/>
                <a:ea typeface="+mn-lt"/>
                <a:cs typeface="Times New Roman"/>
              </a:rPr>
              <a:t>Reliable Transactions:</a:t>
            </a:r>
            <a:r>
              <a:rPr lang="en-US" dirty="0">
                <a:latin typeface="Times New Roman"/>
                <a:ea typeface="+mn-lt"/>
                <a:cs typeface="Times New Roman"/>
              </a:rPr>
              <a:t> Payments need to be processed correctly without duplication or balance errors.</a:t>
            </a:r>
            <a:endParaRPr lang="en-US" dirty="0">
              <a:latin typeface="Times New Roman"/>
              <a:cs typeface="Times New Roman"/>
            </a:endParaRPr>
          </a:p>
          <a:p>
            <a:endParaRPr lang="en-US" dirty="0">
              <a:latin typeface="Times New Roman"/>
              <a:cs typeface="Times New Roman"/>
            </a:endParaRPr>
          </a:p>
          <a:p>
            <a:r>
              <a:rPr lang="en-US" dirty="0">
                <a:latin typeface="Times New Roman"/>
                <a:cs typeface="Times New Roman"/>
              </a:rPr>
              <a:t>2. Existing Gap</a:t>
            </a:r>
          </a:p>
          <a:p>
            <a:pPr>
              <a:buFont typeface="Arial"/>
              <a:buChar char="•"/>
            </a:pPr>
            <a:r>
              <a:rPr lang="en-US" b="1" dirty="0">
                <a:latin typeface="Times New Roman"/>
                <a:ea typeface="+mn-lt"/>
                <a:cs typeface="Times New Roman"/>
              </a:rPr>
              <a:t>Duplicate Payments:</a:t>
            </a:r>
            <a:r>
              <a:rPr lang="en-US" dirty="0">
                <a:latin typeface="Times New Roman"/>
                <a:ea typeface="+mn-lt"/>
                <a:cs typeface="Times New Roman"/>
              </a:rPr>
              <a:t> Network problems or repeated requests can sometimes process the same payment twice.</a:t>
            </a:r>
            <a:endParaRPr lang="en-US">
              <a:latin typeface="Times New Roman"/>
              <a:cs typeface="Times New Roman"/>
            </a:endParaRPr>
          </a:p>
          <a:p>
            <a:pPr>
              <a:buFont typeface="Arial"/>
              <a:buChar char="•"/>
            </a:pPr>
            <a:r>
              <a:rPr lang="en-US" b="1" dirty="0">
                <a:latin typeface="Times New Roman"/>
                <a:ea typeface="+mn-lt"/>
                <a:cs typeface="Times New Roman"/>
              </a:rPr>
              <a:t>Multiple Transactions:</a:t>
            </a:r>
            <a:r>
              <a:rPr lang="en-US" dirty="0">
                <a:latin typeface="Times New Roman"/>
                <a:ea typeface="+mn-lt"/>
                <a:cs typeface="Times New Roman"/>
              </a:rPr>
              <a:t> Processing many payments at the same time can cause incorrect balance updates.</a:t>
            </a:r>
            <a:endParaRPr lang="en-US" dirty="0">
              <a:latin typeface="Times New Roman"/>
              <a:cs typeface="Times New Roman"/>
            </a:endParaRPr>
          </a:p>
          <a:p>
            <a:endParaRPr lang="en-US" dirty="0">
              <a:latin typeface="Times New Roman"/>
              <a:cs typeface="Times New Roman"/>
            </a:endParaRPr>
          </a:p>
          <a:p>
            <a:r>
              <a:rPr lang="en-US" dirty="0">
                <a:latin typeface="Times New Roman"/>
                <a:cs typeface="Times New Roman"/>
              </a:rPr>
              <a:t>3. The Problem</a:t>
            </a:r>
          </a:p>
          <a:p>
            <a:pPr>
              <a:buFont typeface="Arial"/>
              <a:buChar char="•"/>
            </a:pPr>
            <a:r>
              <a:rPr lang="en-US" b="1" dirty="0">
                <a:latin typeface="Times New Roman"/>
                <a:ea typeface="+mn-lt"/>
                <a:cs typeface="Times New Roman"/>
              </a:rPr>
              <a:t>Payment Duplication:</a:t>
            </a:r>
            <a:r>
              <a:rPr lang="en-US" dirty="0">
                <a:latin typeface="Times New Roman"/>
                <a:ea typeface="+mn-lt"/>
                <a:cs typeface="Times New Roman"/>
              </a:rPr>
              <a:t> A user may retry a payment when the response is delayed, causing a duplicate transaction.</a:t>
            </a:r>
            <a:endParaRPr lang="en-US">
              <a:latin typeface="Times New Roman"/>
              <a:cs typeface="Times New Roman"/>
            </a:endParaRPr>
          </a:p>
          <a:p>
            <a:pPr>
              <a:buFont typeface="Arial"/>
              <a:buChar char="•"/>
            </a:pPr>
            <a:r>
              <a:rPr lang="en-US" b="1" dirty="0">
                <a:latin typeface="Times New Roman"/>
                <a:ea typeface="+mn-lt"/>
                <a:cs typeface="Times New Roman"/>
              </a:rPr>
              <a:t>Wrong Balance:</a:t>
            </a:r>
            <a:r>
              <a:rPr lang="en-US" dirty="0">
                <a:latin typeface="Times New Roman"/>
                <a:ea typeface="+mn-lt"/>
                <a:cs typeface="Times New Roman"/>
              </a:rPr>
              <a:t> Simultaneous transactions can sometimes result in an incorrect account balance.</a:t>
            </a:r>
            <a:endParaRPr lang="en-US" dirty="0">
              <a:latin typeface="Times New Roman"/>
              <a:cs typeface="Times New Roman"/>
            </a:endParaRPr>
          </a:p>
          <a:p>
            <a:endParaRPr lang="en-US" dirty="0">
              <a:latin typeface="Times New Roman"/>
              <a:cs typeface="Times New Roman"/>
            </a:endParaRPr>
          </a:p>
          <a:p>
            <a:r>
              <a:rPr lang="en-US" dirty="0">
                <a:latin typeface="Times New Roman"/>
                <a:cs typeface="Times New Roman"/>
              </a:rPr>
              <a:t>4. Motivation</a:t>
            </a:r>
          </a:p>
          <a:p>
            <a:pPr>
              <a:buFont typeface="Arial"/>
              <a:buChar char="•"/>
            </a:pPr>
            <a:r>
              <a:rPr lang="en-US" b="1" dirty="0">
                <a:latin typeface="Times New Roman"/>
                <a:ea typeface="+mn-lt"/>
                <a:cs typeface="Times New Roman"/>
              </a:rPr>
              <a:t>Reduce Payment Errors:</a:t>
            </a:r>
            <a:r>
              <a:rPr lang="en-US" dirty="0">
                <a:latin typeface="Times New Roman"/>
                <a:ea typeface="+mn-lt"/>
                <a:cs typeface="Times New Roman"/>
              </a:rPr>
              <a:t> The project aims to prevent duplicate payments and incorrect balances.</a:t>
            </a:r>
            <a:endParaRPr lang="en-US">
              <a:latin typeface="Times New Roman"/>
              <a:cs typeface="Times New Roman"/>
            </a:endParaRPr>
          </a:p>
          <a:p>
            <a:pPr>
              <a:buFont typeface="Arial"/>
              <a:buChar char="•"/>
            </a:pPr>
            <a:r>
              <a:rPr lang="en-US" b="1" dirty="0">
                <a:latin typeface="Times New Roman"/>
                <a:ea typeface="+mn-lt"/>
                <a:cs typeface="Times New Roman"/>
              </a:rPr>
              <a:t>Increase Reliability:</a:t>
            </a:r>
            <a:r>
              <a:rPr lang="en-US" dirty="0">
                <a:latin typeface="Times New Roman"/>
                <a:ea typeface="+mn-lt"/>
                <a:cs typeface="Times New Roman"/>
              </a:rPr>
              <a:t> It aims to make online payment processing safer, more accurate, and reliable.</a:t>
            </a:r>
            <a:endParaRPr lang="en-US">
              <a:latin typeface="Times New Roman"/>
              <a:cs typeface="Times New Roman"/>
            </a:endParaRPr>
          </a:p>
          <a:p>
            <a:pPr>
              <a:buFont typeface="Arial"/>
              <a:buChar char="•"/>
            </a:pPr>
            <a:endParaRPr lang="en-US" dirty="0">
              <a:latin typeface="Times New Roman"/>
              <a:cs typeface="Times New Roman"/>
            </a:endParaRPr>
          </a:p>
        </p:txBody>
      </p:sp>
      <p:pic>
        <p:nvPicPr>
          <p:cNvPr id="4" name="Picture 3">
            <a:extLst>
              <a:ext uri="{FF2B5EF4-FFF2-40B4-BE49-F238E27FC236}">
                <a16:creationId xmlns:a16="http://schemas.microsoft.com/office/drawing/2014/main" xmlns="" id="{1E05B4D9-4905-1478-741B-EB8E003C849F}"/>
              </a:ext>
            </a:extLst>
          </p:cNvPr>
          <p:cNvPicPr>
            <a:picLocks noChangeAspect="1"/>
          </p:cNvPicPr>
          <p:nvPr/>
        </p:nvPicPr>
        <p:blipFill>
          <a:blip r:embed="rId3"/>
          <a:stretch>
            <a:fillRect/>
          </a:stretch>
        </p:blipFill>
        <p:spPr>
          <a:xfrm>
            <a:off x="10265930" y="439450"/>
            <a:ext cx="1162049" cy="1014556"/>
          </a:xfrm>
          <a:prstGeom prst="rect">
            <a:avLst/>
          </a:prstGeom>
        </p:spPr>
      </p:pic>
    </p:spTree>
    <p:extLst>
      <p:ext uri="{BB962C8B-B14F-4D97-AF65-F5344CB8AC3E}">
        <p14:creationId xmlns:p14="http://schemas.microsoft.com/office/powerpoint/2010/main" val="2781011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A432C1F-682F-3728-87B4-A8D29F87C46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xmlns="" id="{5E613FFD-9646-6740-10CD-FB8EA0304F4E}"/>
              </a:ext>
            </a:extLst>
          </p:cNvPr>
          <p:cNvPicPr>
            <a:picLocks noChangeAspect="1"/>
          </p:cNvPicPr>
          <p:nvPr/>
        </p:nvPicPr>
        <p:blipFill>
          <a:blip r:embed="rId2"/>
          <a:stretch>
            <a:fillRect/>
          </a:stretch>
        </p:blipFill>
        <p:spPr>
          <a:xfrm>
            <a:off x="120073" y="283058"/>
            <a:ext cx="1618675" cy="1004745"/>
          </a:xfrm>
          <a:prstGeom prst="rect">
            <a:avLst/>
          </a:prstGeom>
        </p:spPr>
      </p:pic>
      <p:sp>
        <p:nvSpPr>
          <p:cNvPr id="11" name="TextBox 10">
            <a:extLst>
              <a:ext uri="{FF2B5EF4-FFF2-40B4-BE49-F238E27FC236}">
                <a16:creationId xmlns:a16="http://schemas.microsoft.com/office/drawing/2014/main" xmlns="" id="{30B5D53E-828A-5214-B1FB-E07FBB5D0905}"/>
              </a:ext>
            </a:extLst>
          </p:cNvPr>
          <p:cNvSpPr txBox="1"/>
          <p:nvPr/>
        </p:nvSpPr>
        <p:spPr>
          <a:xfrm>
            <a:off x="2940191" y="462030"/>
            <a:ext cx="6412419" cy="10080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xmlns="" id="{82C8ADD1-4669-EDBB-B6DF-8C5684006FD2}"/>
              </a:ext>
            </a:extLst>
          </p:cNvPr>
          <p:cNvSpPr txBox="1"/>
          <p:nvPr/>
        </p:nvSpPr>
        <p:spPr>
          <a:xfrm>
            <a:off x="2884188" y="434028"/>
            <a:ext cx="665043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latin typeface="Times New Roman"/>
                <a:cs typeface="Times New Roman"/>
              </a:rPr>
              <a:t> </a:t>
            </a:r>
          </a:p>
        </p:txBody>
      </p:sp>
      <p:sp>
        <p:nvSpPr>
          <p:cNvPr id="2" name="TextBox 1">
            <a:extLst>
              <a:ext uri="{FF2B5EF4-FFF2-40B4-BE49-F238E27FC236}">
                <a16:creationId xmlns:a16="http://schemas.microsoft.com/office/drawing/2014/main" xmlns="" id="{BBBF9A7E-7746-C1AA-631A-B3B05A0D9E6A}"/>
              </a:ext>
            </a:extLst>
          </p:cNvPr>
          <p:cNvSpPr txBox="1"/>
          <p:nvPr/>
        </p:nvSpPr>
        <p:spPr>
          <a:xfrm>
            <a:off x="1930735" y="574037"/>
            <a:ext cx="839926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latin typeface="Times New Roman"/>
                <a:cs typeface="Times New Roman"/>
              </a:rPr>
              <a:t>Literature Review / Background Study</a:t>
            </a:r>
            <a:endParaRPr lang="en-US" dirty="0"/>
          </a:p>
        </p:txBody>
      </p:sp>
      <p:graphicFrame>
        <p:nvGraphicFramePr>
          <p:cNvPr id="5" name="Table 4">
            <a:extLst>
              <a:ext uri="{FF2B5EF4-FFF2-40B4-BE49-F238E27FC236}">
                <a16:creationId xmlns:a16="http://schemas.microsoft.com/office/drawing/2014/main" xmlns="" id="{398C2939-4549-9D12-CA23-C7C2094FDCBC}"/>
              </a:ext>
            </a:extLst>
          </p:cNvPr>
          <p:cNvGraphicFramePr>
            <a:graphicFrameLocks noGrp="1"/>
          </p:cNvGraphicFramePr>
          <p:nvPr>
            <p:extLst>
              <p:ext uri="{D42A27DB-BD31-4B8C-83A1-F6EECF244321}">
                <p14:modId xmlns:p14="http://schemas.microsoft.com/office/powerpoint/2010/main" val="3819605321"/>
              </p:ext>
            </p:extLst>
          </p:nvPr>
        </p:nvGraphicFramePr>
        <p:xfrm>
          <a:off x="563671" y="1576191"/>
          <a:ext cx="11393292" cy="4871146"/>
        </p:xfrm>
        <a:graphic>
          <a:graphicData uri="http://schemas.openxmlformats.org/drawingml/2006/table">
            <a:tbl>
              <a:tblPr bandRow="1">
                <a:tableStyleId>{5C22544A-7EE6-4342-B048-85BDC9FD1C3A}</a:tableStyleId>
              </a:tblPr>
              <a:tblGrid>
                <a:gridCol w="2848323">
                  <a:extLst>
                    <a:ext uri="{9D8B030D-6E8A-4147-A177-3AD203B41FA5}">
                      <a16:colId xmlns:a16="http://schemas.microsoft.com/office/drawing/2014/main" xmlns="" val="1328541655"/>
                    </a:ext>
                  </a:extLst>
                </a:gridCol>
                <a:gridCol w="2848323">
                  <a:extLst>
                    <a:ext uri="{9D8B030D-6E8A-4147-A177-3AD203B41FA5}">
                      <a16:colId xmlns:a16="http://schemas.microsoft.com/office/drawing/2014/main" xmlns="" val="331132621"/>
                    </a:ext>
                  </a:extLst>
                </a:gridCol>
                <a:gridCol w="2848323">
                  <a:extLst>
                    <a:ext uri="{9D8B030D-6E8A-4147-A177-3AD203B41FA5}">
                      <a16:colId xmlns:a16="http://schemas.microsoft.com/office/drawing/2014/main" xmlns="" val="3501691577"/>
                    </a:ext>
                  </a:extLst>
                </a:gridCol>
                <a:gridCol w="2848323">
                  <a:extLst>
                    <a:ext uri="{9D8B030D-6E8A-4147-A177-3AD203B41FA5}">
                      <a16:colId xmlns:a16="http://schemas.microsoft.com/office/drawing/2014/main" xmlns="" val="1958399935"/>
                    </a:ext>
                  </a:extLst>
                </a:gridCol>
              </a:tblGrid>
              <a:tr h="695878">
                <a:tc>
                  <a:txBody>
                    <a:bodyPr/>
                    <a:lstStyle/>
                    <a:p>
                      <a:pPr>
                        <a:buNone/>
                      </a:pPr>
                      <a:endParaRPr lang="en-US" b="1" dirty="0"/>
                    </a:p>
                  </a:txBody>
                  <a:tcPr anchor="ctr">
                    <a:lnL>
                      <a:noFill/>
                    </a:lnL>
                    <a:lnR>
                      <a:noFill/>
                    </a:lnR>
                    <a:lnT>
                      <a:noFill/>
                    </a:lnT>
                    <a:lnB>
                      <a:noFill/>
                    </a:lnB>
                    <a:noFill/>
                  </a:tcPr>
                </a:tc>
                <a:tc>
                  <a:txBody>
                    <a:bodyPr/>
                    <a:lstStyle/>
                    <a:p>
                      <a:pPr>
                        <a:buNone/>
                      </a:pPr>
                      <a:endParaRPr lang="en-US" b="1" dirty="0"/>
                    </a:p>
                  </a:txBody>
                  <a:tcPr anchor="ctr">
                    <a:lnL>
                      <a:noFill/>
                    </a:lnL>
                    <a:lnR>
                      <a:noFill/>
                    </a:lnR>
                    <a:lnT>
                      <a:noFill/>
                    </a:lnT>
                    <a:lnB>
                      <a:noFill/>
                    </a:lnB>
                    <a:noFill/>
                  </a:tcPr>
                </a:tc>
                <a:tc>
                  <a:txBody>
                    <a:bodyPr/>
                    <a:lstStyle/>
                    <a:p>
                      <a:pPr>
                        <a:buNone/>
                      </a:pPr>
                      <a:endParaRPr lang="en-US" b="1" dirty="0"/>
                    </a:p>
                  </a:txBody>
                  <a:tcPr anchor="ctr">
                    <a:lnL>
                      <a:noFill/>
                    </a:lnL>
                    <a:lnR>
                      <a:noFill/>
                    </a:lnR>
                    <a:lnT>
                      <a:noFill/>
                    </a:lnT>
                    <a:lnB>
                      <a:noFill/>
                    </a:lnB>
                    <a:noFill/>
                  </a:tcPr>
                </a:tc>
                <a:tc>
                  <a:txBody>
                    <a:bodyPr/>
                    <a:lstStyle/>
                    <a:p>
                      <a:pPr>
                        <a:buNone/>
                      </a:pPr>
                      <a:endParaRPr lang="en-US" b="1" dirty="0"/>
                    </a:p>
                  </a:txBody>
                  <a:tcPr anchor="ctr">
                    <a:lnL>
                      <a:noFill/>
                    </a:lnL>
                    <a:lnR>
                      <a:noFill/>
                    </a:lnR>
                    <a:lnT>
                      <a:noFill/>
                    </a:lnT>
                    <a:lnB>
                      <a:noFill/>
                    </a:lnB>
                    <a:noFill/>
                  </a:tcPr>
                </a:tc>
                <a:extLst>
                  <a:ext uri="{0D108BD9-81ED-4DB2-BD59-A6C34878D82A}">
                    <a16:rowId xmlns:a16="http://schemas.microsoft.com/office/drawing/2014/main" xmlns="" val="920563491"/>
                  </a:ext>
                </a:extLst>
              </a:tr>
              <a:tr h="695878">
                <a:tc>
                  <a:txBody>
                    <a:bodyPr/>
                    <a:lstStyle/>
                    <a:p>
                      <a:pPr>
                        <a:buNone/>
                      </a:pPr>
                      <a:endParaRPr lang="en-US" b="1"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xmlns="" val="4084264470"/>
                  </a:ext>
                </a:extLst>
              </a:tr>
              <a:tr h="695878">
                <a:tc>
                  <a:txBody>
                    <a:bodyPr/>
                    <a:lstStyle/>
                    <a:p>
                      <a:pPr>
                        <a:buNone/>
                      </a:pPr>
                      <a:endParaRPr lang="en-US" b="1"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xmlns="" val="1760454675"/>
                  </a:ext>
                </a:extLst>
              </a:tr>
              <a:tr h="695878">
                <a:tc>
                  <a:txBody>
                    <a:bodyPr/>
                    <a:lstStyle/>
                    <a:p>
                      <a:pPr>
                        <a:buNone/>
                      </a:pPr>
                      <a:endParaRPr lang="en-US" b="1"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xmlns="" val="445414041"/>
                  </a:ext>
                </a:extLst>
              </a:tr>
              <a:tr h="695878">
                <a:tc>
                  <a:txBody>
                    <a:bodyPr/>
                    <a:lstStyle/>
                    <a:p>
                      <a:pPr>
                        <a:buNone/>
                      </a:pPr>
                      <a:endParaRPr lang="en-US" b="1"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xmlns="" val="2856343183"/>
                  </a:ext>
                </a:extLst>
              </a:tr>
              <a:tr h="695878">
                <a:tc>
                  <a:txBody>
                    <a:bodyPr/>
                    <a:lstStyle/>
                    <a:p>
                      <a:pPr>
                        <a:buNone/>
                      </a:pPr>
                      <a:endParaRPr lang="en-US" b="1"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xmlns="" val="1482489013"/>
                  </a:ext>
                </a:extLst>
              </a:tr>
              <a:tr h="695878">
                <a:tc>
                  <a:txBody>
                    <a:bodyPr/>
                    <a:lstStyle/>
                    <a:p>
                      <a:pPr>
                        <a:buNone/>
                      </a:pPr>
                      <a:endParaRPr lang="en-US" b="1"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xmlns="" val="3856561594"/>
                  </a:ext>
                </a:extLst>
              </a:tr>
            </a:tbl>
          </a:graphicData>
        </a:graphic>
      </p:graphicFrame>
      <p:graphicFrame>
        <p:nvGraphicFramePr>
          <p:cNvPr id="14" name="Table 13">
            <a:extLst>
              <a:ext uri="{FF2B5EF4-FFF2-40B4-BE49-F238E27FC236}">
                <a16:creationId xmlns:a16="http://schemas.microsoft.com/office/drawing/2014/main" xmlns="" id="{4E1DBDCC-8908-0306-9C41-118D4B4461E2}"/>
              </a:ext>
            </a:extLst>
          </p:cNvPr>
          <p:cNvGraphicFramePr>
            <a:graphicFrameLocks noGrp="1"/>
          </p:cNvGraphicFramePr>
          <p:nvPr>
            <p:extLst>
              <p:ext uri="{D42A27DB-BD31-4B8C-83A1-F6EECF244321}">
                <p14:modId xmlns:p14="http://schemas.microsoft.com/office/powerpoint/2010/main" val="3014172207"/>
              </p:ext>
            </p:extLst>
          </p:nvPr>
        </p:nvGraphicFramePr>
        <p:xfrm>
          <a:off x="354904" y="1659698"/>
          <a:ext cx="11411449" cy="4930086"/>
        </p:xfrm>
        <a:graphic>
          <a:graphicData uri="http://schemas.openxmlformats.org/drawingml/2006/table">
            <a:tbl>
              <a:tblPr>
                <a:tableStyleId>{616DA210-FB5B-4158-B5E0-FEB733F419BA}</a:tableStyleId>
              </a:tblPr>
              <a:tblGrid>
                <a:gridCol w="2939807">
                  <a:extLst>
                    <a:ext uri="{9D8B030D-6E8A-4147-A177-3AD203B41FA5}">
                      <a16:colId xmlns:a16="http://schemas.microsoft.com/office/drawing/2014/main" xmlns="" val="150181948"/>
                    </a:ext>
                  </a:extLst>
                </a:gridCol>
                <a:gridCol w="2759049">
                  <a:extLst>
                    <a:ext uri="{9D8B030D-6E8A-4147-A177-3AD203B41FA5}">
                      <a16:colId xmlns:a16="http://schemas.microsoft.com/office/drawing/2014/main" xmlns="" val="3886897982"/>
                    </a:ext>
                  </a:extLst>
                </a:gridCol>
                <a:gridCol w="2759049">
                  <a:extLst>
                    <a:ext uri="{9D8B030D-6E8A-4147-A177-3AD203B41FA5}">
                      <a16:colId xmlns:a16="http://schemas.microsoft.com/office/drawing/2014/main" xmlns="" val="1879027486"/>
                    </a:ext>
                  </a:extLst>
                </a:gridCol>
                <a:gridCol w="2953544">
                  <a:extLst>
                    <a:ext uri="{9D8B030D-6E8A-4147-A177-3AD203B41FA5}">
                      <a16:colId xmlns:a16="http://schemas.microsoft.com/office/drawing/2014/main" xmlns="" val="2326080207"/>
                    </a:ext>
                  </a:extLst>
                </a:gridCol>
              </a:tblGrid>
              <a:tr h="717586">
                <a:tc>
                  <a:txBody>
                    <a:bodyPr/>
                    <a:lstStyle/>
                    <a:p>
                      <a:pPr algn="ctr">
                        <a:buNone/>
                      </a:pPr>
                      <a:r>
                        <a:rPr lang="en-US" sz="1800" b="1" dirty="0">
                          <a:latin typeface="Times New Roman"/>
                          <a:cs typeface="Times New Roman"/>
                        </a:rPr>
                        <a:t>Author &amp; Year</a:t>
                      </a:r>
                    </a:p>
                  </a:txBody>
                  <a:tcPr marL="137160" marR="137160" marT="137160" marB="137160" anchor="ctr"/>
                </a:tc>
                <a:tc>
                  <a:txBody>
                    <a:bodyPr/>
                    <a:lstStyle/>
                    <a:p>
                      <a:pPr algn="ctr">
                        <a:buNone/>
                      </a:pPr>
                      <a:r>
                        <a:rPr lang="en-US" sz="1800" b="1" dirty="0">
                          <a:latin typeface="Times New Roman"/>
                          <a:cs typeface="Times New Roman"/>
                        </a:rPr>
                        <a:t>Method Used</a:t>
                      </a:r>
                    </a:p>
                  </a:txBody>
                  <a:tcPr marL="137160" marR="137160" marT="137160" marB="137160" anchor="ctr"/>
                </a:tc>
                <a:tc>
                  <a:txBody>
                    <a:bodyPr/>
                    <a:lstStyle/>
                    <a:p>
                      <a:pPr algn="ctr">
                        <a:buNone/>
                      </a:pPr>
                      <a:r>
                        <a:rPr lang="en-US" sz="1800" b="1" dirty="0">
                          <a:latin typeface="Times New Roman"/>
                          <a:cs typeface="Times New Roman"/>
                        </a:rPr>
                        <a:t>Key Finding</a:t>
                      </a:r>
                    </a:p>
                  </a:txBody>
                  <a:tcPr marL="137160" marR="137160" marT="137160" marB="137160" anchor="ctr"/>
                </a:tc>
                <a:tc>
                  <a:txBody>
                    <a:bodyPr/>
                    <a:lstStyle/>
                    <a:p>
                      <a:pPr algn="ctr">
                        <a:buNone/>
                      </a:pPr>
                      <a:r>
                        <a:rPr lang="en-US" sz="1800" b="1" dirty="0">
                          <a:latin typeface="Times New Roman"/>
                          <a:cs typeface="Times New Roman"/>
                        </a:rPr>
                        <a:t>Limitations / Gap</a:t>
                      </a:r>
                    </a:p>
                  </a:txBody>
                  <a:tcPr marL="137160" marR="137160" marT="137160" marB="137160" anchor="ctr"/>
                </a:tc>
                <a:extLst>
                  <a:ext uri="{0D108BD9-81ED-4DB2-BD59-A6C34878D82A}">
                    <a16:rowId xmlns:a16="http://schemas.microsoft.com/office/drawing/2014/main" xmlns="" val="3974689137"/>
                  </a:ext>
                </a:extLst>
              </a:tr>
              <a:tr h="1009937">
                <a:tc>
                  <a:txBody>
                    <a:bodyPr/>
                    <a:lstStyle/>
                    <a:p>
                      <a:pPr>
                        <a:buNone/>
                      </a:pPr>
                      <a:r>
                        <a:rPr lang="en-US" sz="1200" dirty="0">
                          <a:latin typeface="Times New Roman"/>
                          <a:cs typeface="Times New Roman"/>
                        </a:rPr>
                        <a:t>Ramalingam &amp; Vaswani (2013)</a:t>
                      </a:r>
                    </a:p>
                    <a:p>
                      <a:pPr lvl="0">
                        <a:buNone/>
                      </a:pPr>
                      <a:r>
                        <a:rPr lang="en-US" sz="1200" u="none" strike="noStrike" noProof="0" dirty="0">
                          <a:latin typeface="Times New Roman"/>
                          <a:cs typeface="Times New Roman"/>
                          <a:hlinkClick r:id="rId3"/>
                        </a:rPr>
                        <a:t>Microsoft Research </a:t>
                      </a:r>
                      <a:endParaRPr lang="en-US" sz="1200" u="none" strike="noStrike" noProof="0">
                        <a:latin typeface="Times New Roman"/>
                        <a:cs typeface="Times New Roman"/>
                      </a:endParaRPr>
                    </a:p>
                  </a:txBody>
                  <a:tcPr marL="137160" marR="137160" marT="137160" marB="137160" anchor="ctr"/>
                </a:tc>
                <a:tc>
                  <a:txBody>
                    <a:bodyPr/>
                    <a:lstStyle/>
                    <a:p>
                      <a:pPr>
                        <a:buNone/>
                      </a:pPr>
                      <a:r>
                        <a:rPr lang="en-US" sz="1200" dirty="0">
                          <a:latin typeface="Times New Roman"/>
                          <a:cs typeface="Times New Roman"/>
                        </a:rPr>
                        <a:t>Idempotency in distributed systems</a:t>
                      </a:r>
                    </a:p>
                  </a:txBody>
                  <a:tcPr marL="137160" marR="137160" marT="137160" marB="137160" anchor="ctr"/>
                </a:tc>
                <a:tc>
                  <a:txBody>
                    <a:bodyPr/>
                    <a:lstStyle/>
                    <a:p>
                      <a:pPr>
                        <a:buNone/>
                      </a:pPr>
                      <a:r>
                        <a:rPr lang="en-US" sz="1200" dirty="0">
                          <a:latin typeface="Times New Roman"/>
                          <a:cs typeface="Times New Roman"/>
                        </a:rPr>
                        <a:t>Idempotency helps systems safely handle duplicate requests caused by failures and lost responses. (</a:t>
                      </a:r>
                      <a:r>
                        <a:rPr lang="en-US" sz="1200" dirty="0">
                          <a:latin typeface="Times New Roman"/>
                          <a:cs typeface="Times New Roman"/>
                          <a:hlinkClick r:id="rId4" tooltip="Fault Tolerance via Idempotence - Microsoft Research"/>
                        </a:rPr>
                        <a:t>Microsoft</a:t>
                      </a:r>
                      <a:r>
                        <a:rPr lang="en-US" sz="1200" dirty="0">
                          <a:latin typeface="Times New Roman"/>
                          <a:cs typeface="Times New Roman"/>
                        </a:rPr>
                        <a:t>)</a:t>
                      </a:r>
                    </a:p>
                  </a:txBody>
                  <a:tcPr marL="137160" marR="137160" marT="137160" marB="137160" anchor="ctr"/>
                </a:tc>
                <a:tc>
                  <a:txBody>
                    <a:bodyPr/>
                    <a:lstStyle/>
                    <a:p>
                      <a:pPr>
                        <a:buNone/>
                      </a:pPr>
                      <a:r>
                        <a:rPr lang="en-US" sz="1200" dirty="0">
                          <a:latin typeface="Times New Roman"/>
                          <a:cs typeface="Times New Roman"/>
                        </a:rPr>
                        <a:t>Focuses on general distributed systems rather than payment processing specifically.</a:t>
                      </a:r>
                    </a:p>
                  </a:txBody>
                  <a:tcPr marL="137160" marR="137160" marT="137160" marB="137160" anchor="ctr"/>
                </a:tc>
                <a:extLst>
                  <a:ext uri="{0D108BD9-81ED-4DB2-BD59-A6C34878D82A}">
                    <a16:rowId xmlns:a16="http://schemas.microsoft.com/office/drawing/2014/main" xmlns="" val="1021752397"/>
                  </a:ext>
                </a:extLst>
              </a:tr>
              <a:tr h="1009937">
                <a:tc>
                  <a:txBody>
                    <a:bodyPr/>
                    <a:lstStyle/>
                    <a:p>
                      <a:pPr>
                        <a:buNone/>
                      </a:pPr>
                      <a:r>
                        <a:rPr lang="en-US" sz="1200" dirty="0">
                          <a:latin typeface="Times New Roman"/>
                          <a:cs typeface="Times New Roman"/>
                        </a:rPr>
                        <a:t>Quaglia &amp; Romano (2007)</a:t>
                      </a:r>
                    </a:p>
                    <a:p>
                      <a:pPr lvl="0">
                        <a:buNone/>
                      </a:pPr>
                      <a:r>
                        <a:rPr lang="en-US" sz="1200" u="none" strike="noStrike" noProof="0" dirty="0">
                          <a:latin typeface="Times New Roman"/>
                          <a:cs typeface="Times New Roman"/>
                          <a:hlinkClick r:id="rId5"/>
                        </a:rPr>
                        <a:t>University Repository</a:t>
                      </a:r>
                      <a:endParaRPr lang="en-US" sz="1200" u="none" strike="noStrike" noProof="0">
                        <a:latin typeface="Times New Roman"/>
                        <a:cs typeface="Times New Roman"/>
                      </a:endParaRPr>
                    </a:p>
                  </a:txBody>
                  <a:tcPr marL="137160" marR="137160" marT="137160" marB="137160" anchor="ctr"/>
                </a:tc>
                <a:tc>
                  <a:txBody>
                    <a:bodyPr/>
                    <a:lstStyle/>
                    <a:p>
                      <a:pPr>
                        <a:buNone/>
                      </a:pPr>
                      <a:r>
                        <a:rPr lang="en-US" sz="1200" dirty="0">
                          <a:latin typeface="Times New Roman"/>
                          <a:cs typeface="Times New Roman"/>
                        </a:rPr>
                        <a:t>Exactly-once transaction processing</a:t>
                      </a:r>
                    </a:p>
                  </a:txBody>
                  <a:tcPr marL="137160" marR="137160" marT="137160" marB="137160" anchor="ctr"/>
                </a:tc>
                <a:tc>
                  <a:txBody>
                    <a:bodyPr/>
                    <a:lstStyle/>
                    <a:p>
                      <a:pPr>
                        <a:buNone/>
                      </a:pPr>
                      <a:r>
                        <a:rPr lang="en-US" sz="1200" dirty="0">
                          <a:latin typeface="Times New Roman"/>
                          <a:cs typeface="Times New Roman"/>
                        </a:rPr>
                        <a:t>Proposed a method for maintaining reliable transactions even when multiple application servers are involved. (</a:t>
                      </a:r>
                      <a:r>
                        <a:rPr lang="en-US" sz="1200" dirty="0">
                          <a:latin typeface="Times New Roman"/>
                          <a:cs typeface="Times New Roman"/>
                          <a:hlinkClick r:id="rId6" tooltip="Ensuring e-Transaction with asynchronous and uncoordinated application server replicas"/>
                        </a:rPr>
                        <a:t>Iris</a:t>
                      </a:r>
                      <a:r>
                        <a:rPr lang="en-US" sz="1200" dirty="0">
                          <a:latin typeface="Times New Roman"/>
                          <a:cs typeface="Times New Roman"/>
                        </a:rPr>
                        <a:t>)</a:t>
                      </a:r>
                    </a:p>
                  </a:txBody>
                  <a:tcPr marL="137160" marR="137160" marT="137160" marB="137160" anchor="ctr"/>
                </a:tc>
                <a:tc>
                  <a:txBody>
                    <a:bodyPr/>
                    <a:lstStyle/>
                    <a:p>
                      <a:pPr>
                        <a:buNone/>
                      </a:pPr>
                      <a:r>
                        <a:rPr lang="en-US" sz="1200" dirty="0">
                          <a:latin typeface="Times New Roman"/>
                          <a:cs typeface="Times New Roman"/>
                        </a:rPr>
                        <a:t>Does not specifically address modern payment gateways and idempotency keys.</a:t>
                      </a:r>
                    </a:p>
                  </a:txBody>
                  <a:tcPr marL="137160" marR="137160" marT="137160" marB="137160" anchor="ctr"/>
                </a:tc>
                <a:extLst>
                  <a:ext uri="{0D108BD9-81ED-4DB2-BD59-A6C34878D82A}">
                    <a16:rowId xmlns:a16="http://schemas.microsoft.com/office/drawing/2014/main" xmlns="" val="1799169150"/>
                  </a:ext>
                </a:extLst>
              </a:tr>
              <a:tr h="1182689">
                <a:tc>
                  <a:txBody>
                    <a:bodyPr/>
                    <a:lstStyle/>
                    <a:p>
                      <a:pPr>
                        <a:buNone/>
                      </a:pPr>
                      <a:r>
                        <a:rPr lang="en-US" sz="1200" dirty="0" err="1">
                          <a:latin typeface="Times New Roman"/>
                          <a:cs typeface="Times New Roman"/>
                        </a:rPr>
                        <a:t>Adireddy</a:t>
                      </a:r>
                      <a:r>
                        <a:rPr lang="en-US" sz="1200" dirty="0">
                          <a:latin typeface="Times New Roman"/>
                          <a:cs typeface="Times New Roman"/>
                        </a:rPr>
                        <a:t> (2024)</a:t>
                      </a:r>
                    </a:p>
                    <a:p>
                      <a:pPr lvl="0">
                        <a:buNone/>
                      </a:pPr>
                      <a:r>
                        <a:rPr lang="en-US" sz="1200" u="none" strike="noStrike" noProof="0" dirty="0">
                          <a:latin typeface="Times New Roman"/>
                          <a:cs typeface="Times New Roman"/>
                          <a:hlinkClick r:id="rId7"/>
                        </a:rPr>
                        <a:t>URASET Research Paper</a:t>
                      </a:r>
                      <a:endParaRPr lang="en-US" sz="1200" u="none" strike="noStrike" noProof="0">
                        <a:latin typeface="Times New Roman"/>
                        <a:cs typeface="Times New Roman"/>
                      </a:endParaRPr>
                    </a:p>
                  </a:txBody>
                  <a:tcPr marL="137160" marR="137160" marT="137160" marB="137160" anchor="ctr"/>
                </a:tc>
                <a:tc>
                  <a:txBody>
                    <a:bodyPr/>
                    <a:lstStyle/>
                    <a:p>
                      <a:pPr>
                        <a:buNone/>
                      </a:pPr>
                      <a:r>
                        <a:rPr lang="en-US" sz="1200" dirty="0">
                          <a:latin typeface="Times New Roman"/>
                          <a:cs typeface="Times New Roman"/>
                        </a:rPr>
                        <a:t>Idempotency and reconciliation in payment software</a:t>
                      </a:r>
                    </a:p>
                  </a:txBody>
                  <a:tcPr marL="137160" marR="137160" marT="137160" marB="137160" anchor="ctr"/>
                </a:tc>
                <a:tc>
                  <a:txBody>
                    <a:bodyPr/>
                    <a:lstStyle/>
                    <a:p>
                      <a:pPr>
                        <a:buNone/>
                      </a:pPr>
                      <a:r>
                        <a:rPr lang="en-US" sz="1200" dirty="0">
                          <a:latin typeface="Times New Roman"/>
                          <a:cs typeface="Times New Roman"/>
                        </a:rPr>
                        <a:t>Shows that idempotency can prevent duplicate transactions and reconciliation can maintain consistency between payment components. (</a:t>
                      </a:r>
                      <a:r>
                        <a:rPr lang="en-US" sz="1200" dirty="0">
                          <a:latin typeface="Times New Roman"/>
                          <a:cs typeface="Times New Roman"/>
                          <a:hlinkClick r:id="rId8" tooltip="Idempotency and Reconciliation in Payment Software"/>
                        </a:rPr>
                        <a:t>IJRASET</a:t>
                      </a:r>
                      <a:r>
                        <a:rPr lang="en-US" sz="1200" dirty="0">
                          <a:latin typeface="Times New Roman"/>
                          <a:cs typeface="Times New Roman"/>
                        </a:rPr>
                        <a:t>)</a:t>
                      </a:r>
                    </a:p>
                  </a:txBody>
                  <a:tcPr marL="137160" marR="137160" marT="137160" marB="137160" anchor="ctr"/>
                </a:tc>
                <a:tc>
                  <a:txBody>
                    <a:bodyPr/>
                    <a:lstStyle/>
                    <a:p>
                      <a:pPr>
                        <a:buNone/>
                      </a:pPr>
                      <a:r>
                        <a:rPr lang="en-US" sz="1200" dirty="0">
                          <a:latin typeface="Times New Roman"/>
                          <a:cs typeface="Times New Roman"/>
                        </a:rPr>
                        <a:t>Mainly focuses on duplicate prevention and reconciliation, with less focus on simultaneous balance updates.</a:t>
                      </a:r>
                    </a:p>
                  </a:txBody>
                  <a:tcPr marL="137160" marR="137160" marT="137160" marB="137160" anchor="ctr"/>
                </a:tc>
                <a:extLst>
                  <a:ext uri="{0D108BD9-81ED-4DB2-BD59-A6C34878D82A}">
                    <a16:rowId xmlns:a16="http://schemas.microsoft.com/office/drawing/2014/main" xmlns="" val="298803391"/>
                  </a:ext>
                </a:extLst>
              </a:tr>
              <a:tr h="1009937">
                <a:tc>
                  <a:txBody>
                    <a:bodyPr/>
                    <a:lstStyle/>
                    <a:p>
                      <a:pPr>
                        <a:buNone/>
                      </a:pPr>
                      <a:r>
                        <a:rPr lang="en-US" sz="1200" dirty="0">
                          <a:latin typeface="Times New Roman"/>
                          <a:cs typeface="Times New Roman"/>
                        </a:rPr>
                        <a:t>Shanmugam (2025)</a:t>
                      </a:r>
                    </a:p>
                    <a:p>
                      <a:pPr lvl="0">
                        <a:buNone/>
                      </a:pPr>
                      <a:r>
                        <a:rPr lang="en-US" sz="1200" u="none" strike="noStrike" noProof="0" dirty="0">
                          <a:latin typeface="Times New Roman"/>
                          <a:cs typeface="Times New Roman"/>
                          <a:hlinkClick r:id="rId9"/>
                        </a:rPr>
                        <a:t>Eudoxus Press article </a:t>
                      </a:r>
                      <a:endParaRPr lang="en-US" sz="1200" u="none" strike="noStrike" noProof="0">
                        <a:latin typeface="Times New Roman"/>
                        <a:cs typeface="Times New Roman"/>
                      </a:endParaRPr>
                    </a:p>
                  </a:txBody>
                  <a:tcPr marL="137160" marR="137160" marT="137160" marB="137160" anchor="ctr"/>
                </a:tc>
                <a:tc>
                  <a:txBody>
                    <a:bodyPr/>
                    <a:lstStyle/>
                    <a:p>
                      <a:pPr>
                        <a:buNone/>
                      </a:pPr>
                      <a:r>
                        <a:rPr lang="en-US" sz="1200" dirty="0">
                          <a:latin typeface="Times New Roman"/>
                          <a:cs typeface="Times New Roman"/>
                        </a:rPr>
                        <a:t>Idempotency keys for digital payments</a:t>
                      </a:r>
                    </a:p>
                  </a:txBody>
                  <a:tcPr marL="137160" marR="137160" marT="137160" marB="137160" anchor="ctr"/>
                </a:tc>
                <a:tc>
                  <a:txBody>
                    <a:bodyPr/>
                    <a:lstStyle/>
                    <a:p>
                      <a:pPr>
                        <a:buNone/>
                      </a:pPr>
                      <a:r>
                        <a:rPr lang="en-US" sz="1200" dirty="0">
                          <a:latin typeface="Times New Roman"/>
                          <a:cs typeface="Times New Roman"/>
                        </a:rPr>
                        <a:t>Shows how unique idempotency keys can identify repeated payment requests and prevent customers from being charged twice. (</a:t>
                      </a:r>
                      <a:r>
                        <a:rPr lang="en-US" sz="1200" dirty="0">
                          <a:latin typeface="Times New Roman"/>
                          <a:cs typeface="Times New Roman"/>
                          <a:hlinkClick r:id="rId10" tooltip="Idempotency Mechanisms in Digital Payment Systems: Preventing Duplicate Transaction Processing | Journal of Computational Analysis and Applications (JoCAAA)"/>
                        </a:rPr>
                        <a:t>Eudoxus Press</a:t>
                      </a:r>
                      <a:r>
                        <a:rPr lang="en-US" sz="1200" dirty="0">
                          <a:latin typeface="Times New Roman"/>
                          <a:cs typeface="Times New Roman"/>
                        </a:rPr>
                        <a:t>)</a:t>
                      </a:r>
                    </a:p>
                  </a:txBody>
                  <a:tcPr marL="137160" marR="137160" marT="137160" marB="137160" anchor="ctr"/>
                </a:tc>
                <a:tc>
                  <a:txBody>
                    <a:bodyPr/>
                    <a:lstStyle/>
                    <a:p>
                      <a:pPr>
                        <a:buNone/>
                      </a:pPr>
                      <a:r>
                        <a:rPr lang="en-US" sz="1200" dirty="0">
                          <a:latin typeface="Times New Roman"/>
                          <a:cs typeface="Times New Roman"/>
                        </a:rPr>
                        <a:t>Mainly focuses on duplicate transactions; concurrent balance management is not the main focus.</a:t>
                      </a:r>
                    </a:p>
                  </a:txBody>
                  <a:tcPr marL="137160" marR="137160" marT="137160" marB="137160" anchor="ctr"/>
                </a:tc>
                <a:extLst>
                  <a:ext uri="{0D108BD9-81ED-4DB2-BD59-A6C34878D82A}">
                    <a16:rowId xmlns:a16="http://schemas.microsoft.com/office/drawing/2014/main" xmlns="" val="1209867362"/>
                  </a:ext>
                </a:extLst>
              </a:tr>
            </a:tbl>
          </a:graphicData>
        </a:graphic>
      </p:graphicFrame>
      <p:pic>
        <p:nvPicPr>
          <p:cNvPr id="3" name="Picture 2">
            <a:extLst>
              <a:ext uri="{FF2B5EF4-FFF2-40B4-BE49-F238E27FC236}">
                <a16:creationId xmlns:a16="http://schemas.microsoft.com/office/drawing/2014/main" xmlns="" id="{37DB9250-4854-3325-3012-6226572B1AC8}"/>
              </a:ext>
            </a:extLst>
          </p:cNvPr>
          <p:cNvPicPr>
            <a:picLocks noChangeAspect="1"/>
          </p:cNvPicPr>
          <p:nvPr/>
        </p:nvPicPr>
        <p:blipFill>
          <a:blip r:embed="rId11"/>
          <a:stretch>
            <a:fillRect/>
          </a:stretch>
        </p:blipFill>
        <p:spPr>
          <a:xfrm>
            <a:off x="10727748" y="416359"/>
            <a:ext cx="1046594" cy="887557"/>
          </a:xfrm>
          <a:prstGeom prst="rect">
            <a:avLst/>
          </a:prstGeom>
        </p:spPr>
      </p:pic>
    </p:spTree>
    <p:extLst>
      <p:ext uri="{BB962C8B-B14F-4D97-AF65-F5344CB8AC3E}">
        <p14:creationId xmlns:p14="http://schemas.microsoft.com/office/powerpoint/2010/main" val="1499404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890A00-EF52-DE05-F00F-1C0CA3BE687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xmlns="" id="{B81FFCDF-A9A6-0F64-58AD-B475CE787F0F}"/>
              </a:ext>
            </a:extLst>
          </p:cNvPr>
          <p:cNvPicPr>
            <a:picLocks noChangeAspect="1"/>
          </p:cNvPicPr>
          <p:nvPr/>
        </p:nvPicPr>
        <p:blipFill>
          <a:blip r:embed="rId2"/>
          <a:stretch>
            <a:fillRect/>
          </a:stretch>
        </p:blipFill>
        <p:spPr>
          <a:xfrm>
            <a:off x="316345" y="352331"/>
            <a:ext cx="1791856" cy="1120199"/>
          </a:xfrm>
          <a:prstGeom prst="rect">
            <a:avLst/>
          </a:prstGeom>
        </p:spPr>
      </p:pic>
      <p:sp>
        <p:nvSpPr>
          <p:cNvPr id="11" name="TextBox 10">
            <a:extLst>
              <a:ext uri="{FF2B5EF4-FFF2-40B4-BE49-F238E27FC236}">
                <a16:creationId xmlns:a16="http://schemas.microsoft.com/office/drawing/2014/main" xmlns="" id="{0017346B-E8BC-7457-9E4E-D00A21CE8C7B}"/>
              </a:ext>
            </a:extLst>
          </p:cNvPr>
          <p:cNvSpPr txBox="1"/>
          <p:nvPr/>
        </p:nvSpPr>
        <p:spPr>
          <a:xfrm>
            <a:off x="2940191" y="462030"/>
            <a:ext cx="6412419" cy="10080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xmlns="" id="{DC648E8E-4CB8-81E9-1636-00127D2CF992}"/>
              </a:ext>
            </a:extLst>
          </p:cNvPr>
          <p:cNvSpPr txBox="1"/>
          <p:nvPr/>
        </p:nvSpPr>
        <p:spPr>
          <a:xfrm>
            <a:off x="2884188" y="434028"/>
            <a:ext cx="665043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latin typeface="Times New Roman"/>
                <a:cs typeface="Times New Roman"/>
              </a:rPr>
              <a:t> </a:t>
            </a:r>
          </a:p>
        </p:txBody>
      </p:sp>
      <p:sp>
        <p:nvSpPr>
          <p:cNvPr id="2" name="TextBox 1">
            <a:extLst>
              <a:ext uri="{FF2B5EF4-FFF2-40B4-BE49-F238E27FC236}">
                <a16:creationId xmlns:a16="http://schemas.microsoft.com/office/drawing/2014/main" xmlns="" id="{14F6486F-454E-E2DD-C198-E6FF582EA948}"/>
              </a:ext>
            </a:extLst>
          </p:cNvPr>
          <p:cNvSpPr txBox="1"/>
          <p:nvPr/>
        </p:nvSpPr>
        <p:spPr>
          <a:xfrm>
            <a:off x="2870187" y="574037"/>
            <a:ext cx="642642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err="1">
                <a:latin typeface="Times New Roman"/>
                <a:cs typeface="Times New Roman"/>
              </a:rPr>
              <a:t>Methodolgy</a:t>
            </a:r>
            <a:endParaRPr lang="en-US" dirty="0" err="1"/>
          </a:p>
        </p:txBody>
      </p:sp>
      <p:pic>
        <p:nvPicPr>
          <p:cNvPr id="4" name="Picture 3">
            <a:extLst>
              <a:ext uri="{FF2B5EF4-FFF2-40B4-BE49-F238E27FC236}">
                <a16:creationId xmlns:a16="http://schemas.microsoft.com/office/drawing/2014/main" xmlns="" id="{7DC99D20-9EEB-DCF2-DB9C-822166C0B6F8}"/>
              </a:ext>
            </a:extLst>
          </p:cNvPr>
          <p:cNvPicPr>
            <a:picLocks noChangeAspect="1"/>
          </p:cNvPicPr>
          <p:nvPr/>
        </p:nvPicPr>
        <p:blipFill>
          <a:blip r:embed="rId3"/>
          <a:stretch>
            <a:fillRect/>
          </a:stretch>
        </p:blipFill>
        <p:spPr>
          <a:xfrm>
            <a:off x="313765" y="1591235"/>
            <a:ext cx="11373970" cy="5266765"/>
          </a:xfrm>
          <a:prstGeom prst="rect">
            <a:avLst/>
          </a:prstGeom>
        </p:spPr>
      </p:pic>
      <p:pic>
        <p:nvPicPr>
          <p:cNvPr id="3" name="Picture 2">
            <a:extLst>
              <a:ext uri="{FF2B5EF4-FFF2-40B4-BE49-F238E27FC236}">
                <a16:creationId xmlns:a16="http://schemas.microsoft.com/office/drawing/2014/main" xmlns="" id="{E22E576E-9023-91DF-31EF-BA5B097FEB7C}"/>
              </a:ext>
            </a:extLst>
          </p:cNvPr>
          <p:cNvPicPr>
            <a:picLocks noChangeAspect="1"/>
          </p:cNvPicPr>
          <p:nvPr/>
        </p:nvPicPr>
        <p:blipFill>
          <a:blip r:embed="rId4"/>
          <a:stretch>
            <a:fillRect/>
          </a:stretch>
        </p:blipFill>
        <p:spPr>
          <a:xfrm>
            <a:off x="10612293" y="427904"/>
            <a:ext cx="1173595" cy="1014557"/>
          </a:xfrm>
          <a:prstGeom prst="rect">
            <a:avLst/>
          </a:prstGeom>
        </p:spPr>
      </p:pic>
    </p:spTree>
    <p:extLst>
      <p:ext uri="{BB962C8B-B14F-4D97-AF65-F5344CB8AC3E}">
        <p14:creationId xmlns:p14="http://schemas.microsoft.com/office/powerpoint/2010/main" val="3779154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4257544-EA9B-6E86-3E6E-AEC04A65335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xmlns="" id="{16AD768F-F35A-7DF8-E8F5-070A60C3A6A2}"/>
              </a:ext>
            </a:extLst>
          </p:cNvPr>
          <p:cNvPicPr>
            <a:picLocks noChangeAspect="1"/>
          </p:cNvPicPr>
          <p:nvPr/>
        </p:nvPicPr>
        <p:blipFill>
          <a:blip r:embed="rId2"/>
          <a:stretch>
            <a:fillRect/>
          </a:stretch>
        </p:blipFill>
        <p:spPr>
          <a:xfrm>
            <a:off x="108527" y="433149"/>
            <a:ext cx="1745675" cy="1154835"/>
          </a:xfrm>
          <a:prstGeom prst="rect">
            <a:avLst/>
          </a:prstGeom>
        </p:spPr>
      </p:pic>
      <p:sp>
        <p:nvSpPr>
          <p:cNvPr id="11" name="TextBox 10">
            <a:extLst>
              <a:ext uri="{FF2B5EF4-FFF2-40B4-BE49-F238E27FC236}">
                <a16:creationId xmlns:a16="http://schemas.microsoft.com/office/drawing/2014/main" xmlns="" id="{71ECB07B-F8D2-F941-7D4F-429B72F0CC90}"/>
              </a:ext>
            </a:extLst>
          </p:cNvPr>
          <p:cNvSpPr txBox="1"/>
          <p:nvPr/>
        </p:nvSpPr>
        <p:spPr>
          <a:xfrm>
            <a:off x="2940191" y="462030"/>
            <a:ext cx="6412419" cy="10080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xmlns="" id="{2BFFDCCE-7CAE-92B5-6308-942D74697EE0}"/>
              </a:ext>
            </a:extLst>
          </p:cNvPr>
          <p:cNvSpPr txBox="1"/>
          <p:nvPr/>
        </p:nvSpPr>
        <p:spPr>
          <a:xfrm>
            <a:off x="2884188" y="434028"/>
            <a:ext cx="665043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latin typeface="Times New Roman"/>
                <a:cs typeface="Times New Roman"/>
              </a:rPr>
              <a:t> </a:t>
            </a:r>
          </a:p>
        </p:txBody>
      </p:sp>
      <p:sp>
        <p:nvSpPr>
          <p:cNvPr id="2" name="TextBox 1">
            <a:extLst>
              <a:ext uri="{FF2B5EF4-FFF2-40B4-BE49-F238E27FC236}">
                <a16:creationId xmlns:a16="http://schemas.microsoft.com/office/drawing/2014/main" xmlns="" id="{4D43F273-9CF0-6A02-D51F-74315C47A89A}"/>
              </a:ext>
            </a:extLst>
          </p:cNvPr>
          <p:cNvSpPr txBox="1"/>
          <p:nvPr/>
        </p:nvSpPr>
        <p:spPr>
          <a:xfrm>
            <a:off x="2870187" y="574037"/>
            <a:ext cx="642642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dirty="0">
                <a:latin typeface="Times New Roman"/>
                <a:cs typeface="Times New Roman"/>
              </a:rPr>
              <a:t>System Design</a:t>
            </a:r>
            <a:endParaRPr lang="en-US" dirty="0"/>
          </a:p>
        </p:txBody>
      </p:sp>
      <p:pic>
        <p:nvPicPr>
          <p:cNvPr id="3" name="Picture 2">
            <a:extLst>
              <a:ext uri="{FF2B5EF4-FFF2-40B4-BE49-F238E27FC236}">
                <a16:creationId xmlns:a16="http://schemas.microsoft.com/office/drawing/2014/main" xmlns="" id="{1EDB907C-2687-8F0E-D374-FEE29B21995E}"/>
              </a:ext>
            </a:extLst>
          </p:cNvPr>
          <p:cNvPicPr>
            <a:picLocks noChangeAspect="1"/>
          </p:cNvPicPr>
          <p:nvPr/>
        </p:nvPicPr>
        <p:blipFill>
          <a:blip r:embed="rId3"/>
          <a:srcRect t="8298" b="12111"/>
          <a:stretch>
            <a:fillRect/>
          </a:stretch>
        </p:blipFill>
        <p:spPr>
          <a:xfrm>
            <a:off x="862852" y="1453424"/>
            <a:ext cx="10085295" cy="5290243"/>
          </a:xfrm>
          <a:prstGeom prst="rect">
            <a:avLst/>
          </a:prstGeom>
        </p:spPr>
      </p:pic>
      <p:pic>
        <p:nvPicPr>
          <p:cNvPr id="4" name="Picture 3">
            <a:extLst>
              <a:ext uri="{FF2B5EF4-FFF2-40B4-BE49-F238E27FC236}">
                <a16:creationId xmlns:a16="http://schemas.microsoft.com/office/drawing/2014/main" xmlns="" id="{7262AF0C-2F91-6AF9-78D9-105D78B79545}"/>
              </a:ext>
            </a:extLst>
          </p:cNvPr>
          <p:cNvPicPr>
            <a:picLocks noChangeAspect="1"/>
          </p:cNvPicPr>
          <p:nvPr/>
        </p:nvPicPr>
        <p:blipFill>
          <a:blip r:embed="rId4"/>
          <a:stretch>
            <a:fillRect/>
          </a:stretch>
        </p:blipFill>
        <p:spPr>
          <a:xfrm>
            <a:off x="10566112" y="427904"/>
            <a:ext cx="1069686" cy="1003011"/>
          </a:xfrm>
          <a:prstGeom prst="rect">
            <a:avLst/>
          </a:prstGeom>
        </p:spPr>
      </p:pic>
    </p:spTree>
    <p:extLst>
      <p:ext uri="{BB962C8B-B14F-4D97-AF65-F5344CB8AC3E}">
        <p14:creationId xmlns:p14="http://schemas.microsoft.com/office/powerpoint/2010/main" val="149727006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637</Words>
  <Application>Microsoft Office PowerPoint</Application>
  <PresentationFormat>Custom</PresentationFormat>
  <Paragraphs>81</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Varshini Sreenivas</dc:creator>
  <cp:lastModifiedBy>Varshini Sreenivas</cp:lastModifiedBy>
  <cp:revision>453</cp:revision>
  <dcterms:created xsi:type="dcterms:W3CDTF">2026-09-10T06:08:00Z</dcterms:created>
  <dcterms:modified xsi:type="dcterms:W3CDTF">2026-10-30T15:21:21Z</dcterms:modified>
</cp:coreProperties>
</file>